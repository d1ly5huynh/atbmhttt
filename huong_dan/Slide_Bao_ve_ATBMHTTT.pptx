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giây: Chen báo Escape Rate khoảng 99% mà không kiểm tra XSS còn chạy. Pasini thêm Oracle DOM. Em bám khung đó, siết Oracle thành JavaScript chạy thật, rồi dùng PPO sinh mẫu để kiểm tra detector, CRS và DOMPurify. Giữ bug encode thì ER khoảng 99% lặp lại được; khép bug thì còn khoảng 1%. Trên CRS lab, catalog Table 2 có TASR bằng 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Nhấn: ER là detector gọi nhầm độc thành lành — không phải XSS chạy. div hello trên Oracle paper cũng bị gọi độc vì thêm nút DOM. 23,4% nhãn Mereani lab đo được là parser-only.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khớp đề. Kỹ thuật sinh = PPO + 27 action, không GAN không LLM. Ba bộ lọc. Thuộc công thức TASR. App không WAF TASR 84,5% — chỗ này để đối chiếu, không phải bypass WAF.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RQ1 mutation nhẹ. RQ2 preprocess nặng. RQ3 nhét Oracle DOM vào train, ER vẫn trên 96%. Đồ án bám khung này, không bám ER 99% như mục tiêu thành công.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27 action. Khác encode và Oracle. Nhánh A để nói protocol lặp lại được. Nhánh B để nói khi khép OOV thì 99% biến mất. Không SAC. Không dataset 90k của Chen.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được: trên đúng artifact data/10, tái lập ER khoảng 99% và RQ3 ER lớn hơn 96% với RR gần 0 theo Oracle DOM. Câu cấm: coi 99% sau Oracle DOM là XSS còn chạy JavaScript. CNN seed 42 ER vẫn 99% nhưng RR(V) thấp — phương sai 1 seed, agent spam script.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Khi khép LabelEncoder, PPO Table 2 không còn ER 99%. 0,25% đúng bằng 1/400 — sàn FN detector, không phải tấn công mạnh. Mọi escape P4 vẫn execute (RR=0).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curl: app 200, CRS 403, hello 200. TASR bằng 0 là kết quả kiểm tra bộ lọc, không phải thất bại đồ án. Purify: trình duyệt nhận 200 nhưng script bị tẩy.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gạch này là slide chốt. Hướng phát triển: primitive BYPASS_EXEC trước khi train RL trên CRS; state nhìn payload; 10 seed RQ3 nếu hội đồng đòi số trung bình.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cuối. Nếu Docker chết: chiếu bảng P5, không improv. Cảm ơn hội đồng.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C47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155680" cy="256032"/>
          </a:xfrm>
          <a:prstGeom prst="rect">
            <a:avLst/>
          </a:prstGeom>
          <a:noFill/>
        </p:spPr>
        <p:txBody>
          <a:bodyPr wrap="square" lIns="36576" rIns="36576" tIns="25603" bIns="18288" anchor="t"/>
          <a:lstStyle/>
          <a:p>
            <a:pPr algn="l">
              <a:spcBef>
                <a:spcPts val="0"/>
              </a:spcBef>
              <a:spcAft>
                <a:spcPts val="0"/>
              </a:spcAft>
            </a:pPr>
            <a:r>
              <a:rPr sz="1300" b="0" i="0">
                <a:solidFill>
                  <a:srgbClr val="C47E12"/>
                </a:solidFill>
                <a:latin typeface="Calibri"/>
                <a:ea typeface="Calibri"/>
                <a:cs typeface="Calibri"/>
              </a:rPr>
              <a:t>HỌC PHẦN AN TOÀN BẢO MẬT HỆ THỐNG THÔNG TIN  ·  ATBMHTTT</a:t>
            </a:r>
          </a:p>
        </p:txBody>
      </p:sp>
      <p:sp>
        <p:nvSpPr>
          <p:cNvPr id="5" name="TextBox 4"/>
          <p:cNvSpPr txBox="1"/>
          <p:nvPr/>
        </p:nvSpPr>
        <p:spPr>
          <a:xfrm>
            <a:off x="502920" y="777240"/>
            <a:ext cx="11155680" cy="1417320"/>
          </a:xfrm>
          <a:prstGeom prst="rect">
            <a:avLst/>
          </a:prstGeom>
          <a:noFill/>
        </p:spPr>
        <p:txBody>
          <a:bodyPr wrap="square" lIns="36576" rIns="36576" tIns="25603" bIns="18288" anchor="t"/>
          <a:lstStyle/>
          <a:p>
            <a:pPr algn="l">
              <a:spcBef>
                <a:spcPts val="0"/>
              </a:spcBef>
              <a:spcAft>
                <a:spcPts val="0"/>
              </a:spcAft>
            </a:pPr>
            <a:r>
              <a:rPr sz="3000" b="1" i="0">
                <a:solidFill>
                  <a:srgbClr val="FFFFFF"/>
                </a:solidFill>
                <a:latin typeface="Calibri"/>
                <a:ea typeface="Calibri"/>
                <a:cs typeface="Calibri"/>
              </a:rPr>
              <a:t>Sinh mẫu thử tấn công XSS bằng kỹ thuật sinh dữ liệu đối kháng để kiểm tra bộ lọc</a:t>
            </a:r>
          </a:p>
        </p:txBody>
      </p:sp>
      <p:sp>
        <p:nvSpPr>
          <p:cNvPr id="6" name="TextBox 5"/>
          <p:cNvSpPr txBox="1"/>
          <p:nvPr/>
        </p:nvSpPr>
        <p:spPr>
          <a:xfrm>
            <a:off x="502920" y="2286000"/>
            <a:ext cx="11155680" cy="502920"/>
          </a:xfrm>
          <a:prstGeom prst="rect">
            <a:avLst/>
          </a:prstGeom>
          <a:noFill/>
        </p:spPr>
        <p:txBody>
          <a:bodyPr wrap="square" lIns="36576" rIns="36576" tIns="25603" bIns="18288" anchor="t"/>
          <a:lstStyle/>
          <a:p>
            <a:pPr algn="l">
              <a:spcBef>
                <a:spcPts val="0"/>
              </a:spcBef>
              <a:spcAft>
                <a:spcPts val="0"/>
              </a:spcAft>
            </a:pPr>
            <a:r>
              <a:rPr sz="1600" b="0" i="0">
                <a:solidFill>
                  <a:srgbClr val="D0DCE8"/>
                </a:solidFill>
                <a:latin typeface="Calibri"/>
                <a:ea typeface="Calibri"/>
                <a:cs typeface="Calibri"/>
              </a:rPr>
              <a:t>PPO + 27 đột biến Table 2  →  kiểm tra detector học sâu, OWASP CRS 4 và DOMPurify (localhost)</a:t>
            </a:r>
          </a:p>
        </p:txBody>
      </p:sp>
      <p:sp>
        <p:nvSpPr>
          <p:cNvPr id="7" name="Rounded Rectangle 6"/>
          <p:cNvSpPr/>
          <p:nvPr/>
        </p:nvSpPr>
        <p:spPr>
          <a:xfrm>
            <a:off x="502920" y="2971800"/>
            <a:ext cx="11155680" cy="1417320"/>
          </a:xfrm>
          <a:prstGeom prst="roundRect">
            <a:avLst>
              <a:gd name="adj" fmla="val 6000"/>
            </a:avLst>
          </a:prstGeom>
          <a:solidFill>
            <a:srgbClr val="163A5F"/>
          </a:solidFill>
          <a:ln w="12700">
            <a:solidFill>
              <a:srgbClr val="2A55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063240"/>
            <a:ext cx="10881360" cy="1280160"/>
          </a:xfrm>
          <a:prstGeom prst="rect">
            <a:avLst/>
          </a:prstGeom>
          <a:noFill/>
        </p:spPr>
        <p:txBody>
          <a:bodyPr wrap="square" lIns="54864" rIns="54864" tIns="38404" bIns="27432"/>
          <a:lstStyle/>
          <a:p>
            <a:pPr algn="l">
              <a:spcBef>
                <a:spcPts val="0"/>
              </a:spcBef>
              <a:spcAft>
                <a:spcPts val="0"/>
              </a:spcAft>
            </a:pPr>
            <a:r>
              <a:rPr sz="1400" b="0" i="0">
                <a:solidFill>
                  <a:srgbClr val="FFFFFF"/>
                </a:solidFill>
                <a:latin typeface="Calibri"/>
                <a:ea typeface="Calibri"/>
                <a:cs typeface="Calibri"/>
              </a:rPr>
              <a:t>Khung đánh giá: Pasini, Maragliano, Kim, Tonella  ·  JSS 2026  ·  arXiv 2502.19095v2</a:t>
            </a:r>
          </a:p>
          <a:p>
            <a:pPr algn="l">
              <a:spcBef>
                <a:spcPts val="800"/>
              </a:spcBef>
              <a:spcAft>
                <a:spcPts val="0"/>
              </a:spcAft>
            </a:pPr>
            <a:r>
              <a:rPr sz="1400" b="0" i="0">
                <a:solidFill>
                  <a:srgbClr val="C5D4E4"/>
                </a:solidFill>
                <a:latin typeface="Calibri"/>
                <a:ea typeface="Calibri"/>
                <a:cs typeface="Calibri"/>
              </a:rPr>
              <a:t>Artifact GitHub GianlucaMaragliano/Adversarial_RL_XSS  ·  commit a299bb6</a:t>
            </a:r>
          </a:p>
          <a:p>
            <a:pPr algn="l">
              <a:spcBef>
                <a:spcPts val="800"/>
              </a:spcBef>
              <a:spcAft>
                <a:spcPts val="0"/>
              </a:spcAft>
            </a:pPr>
            <a:r>
              <a:rPr sz="1400" b="0" i="0">
                <a:solidFill>
                  <a:srgbClr val="C5D4E4"/>
                </a:solidFill>
                <a:latin typeface="Calibri"/>
                <a:ea typeface="Calibri"/>
                <a:cs typeface="Calibri"/>
              </a:rPr>
              <a:t>Phạm vi lab: Mereani / data/10  ·  không WAF cloud  ·  không LLM sinh payload</a:t>
            </a:r>
          </a:p>
        </p:txBody>
      </p:sp>
      <p:sp>
        <p:nvSpPr>
          <p:cNvPr id="9" name="TextBox 8"/>
          <p:cNvSpPr txBox="1"/>
          <p:nvPr/>
        </p:nvSpPr>
        <p:spPr>
          <a:xfrm>
            <a:off x="502920" y="4617720"/>
            <a:ext cx="3657600" cy="256032"/>
          </a:xfrm>
          <a:prstGeom prst="rect">
            <a:avLst/>
          </a:prstGeom>
          <a:noFill/>
        </p:spPr>
        <p:txBody>
          <a:bodyPr wrap="square" lIns="36576" rIns="36576" tIns="25603" bIns="18288" anchor="t"/>
          <a:lstStyle/>
          <a:p>
            <a:pPr algn="l">
              <a:spcBef>
                <a:spcPts val="0"/>
              </a:spcBef>
              <a:spcAft>
                <a:spcPts val="0"/>
              </a:spcAft>
            </a:pPr>
            <a:r>
              <a:rPr sz="1200" b="0" i="0">
                <a:solidFill>
                  <a:srgbClr val="C47E12"/>
                </a:solidFill>
                <a:latin typeface="Calibri"/>
                <a:ea typeface="Calibri"/>
                <a:cs typeface="Calibri"/>
              </a:rPr>
              <a:t>Sinh viên</a:t>
            </a:r>
          </a:p>
        </p:txBody>
      </p:sp>
      <p:sp>
        <p:nvSpPr>
          <p:cNvPr id="10" name="TextBox 9"/>
          <p:cNvSpPr txBox="1"/>
          <p:nvPr/>
        </p:nvSpPr>
        <p:spPr>
          <a:xfrm>
            <a:off x="502920" y="4864608"/>
            <a:ext cx="3657600" cy="320040"/>
          </a:xfrm>
          <a:prstGeom prst="rect">
            <a:avLst/>
          </a:prstGeom>
          <a:noFill/>
        </p:spPr>
        <p:txBody>
          <a:bodyPr wrap="square" lIns="36576" rIns="36576" tIns="25603" bIns="18288" anchor="t"/>
          <a:lstStyle/>
          <a:p>
            <a:pPr algn="l">
              <a:spcBef>
                <a:spcPts val="0"/>
              </a:spcBef>
              <a:spcAft>
                <a:spcPts val="0"/>
              </a:spcAft>
            </a:pPr>
            <a:r>
              <a:rPr sz="1600" b="0" i="0">
                <a:solidFill>
                  <a:srgbClr val="FFFFFF"/>
                </a:solidFill>
                <a:latin typeface="Calibri"/>
                <a:ea typeface="Calibri"/>
                <a:cs typeface="Calibri"/>
              </a:rPr>
              <a:t>________________________</a:t>
            </a:r>
          </a:p>
        </p:txBody>
      </p:sp>
      <p:sp>
        <p:nvSpPr>
          <p:cNvPr id="11" name="TextBox 10"/>
          <p:cNvSpPr txBox="1"/>
          <p:nvPr/>
        </p:nvSpPr>
        <p:spPr>
          <a:xfrm>
            <a:off x="4572000" y="4617720"/>
            <a:ext cx="3200400" cy="256032"/>
          </a:xfrm>
          <a:prstGeom prst="rect">
            <a:avLst/>
          </a:prstGeom>
          <a:noFill/>
        </p:spPr>
        <p:txBody>
          <a:bodyPr wrap="square" lIns="36576" rIns="36576" tIns="25603" bIns="18288" anchor="t"/>
          <a:lstStyle/>
          <a:p>
            <a:pPr algn="l">
              <a:spcBef>
                <a:spcPts val="0"/>
              </a:spcBef>
              <a:spcAft>
                <a:spcPts val="0"/>
              </a:spcAft>
            </a:pPr>
            <a:r>
              <a:rPr sz="1200" b="0" i="0">
                <a:solidFill>
                  <a:srgbClr val="C47E12"/>
                </a:solidFill>
                <a:latin typeface="Calibri"/>
                <a:ea typeface="Calibri"/>
                <a:cs typeface="Calibri"/>
              </a:rPr>
              <a:t>MSSV</a:t>
            </a:r>
          </a:p>
        </p:txBody>
      </p:sp>
      <p:sp>
        <p:nvSpPr>
          <p:cNvPr id="12" name="TextBox 11"/>
          <p:cNvSpPr txBox="1"/>
          <p:nvPr/>
        </p:nvSpPr>
        <p:spPr>
          <a:xfrm>
            <a:off x="4572000" y="4864608"/>
            <a:ext cx="3200400" cy="320040"/>
          </a:xfrm>
          <a:prstGeom prst="rect">
            <a:avLst/>
          </a:prstGeom>
          <a:noFill/>
        </p:spPr>
        <p:txBody>
          <a:bodyPr wrap="square" lIns="36576" rIns="36576" tIns="25603" bIns="18288" anchor="t"/>
          <a:lstStyle/>
          <a:p>
            <a:pPr algn="l">
              <a:spcBef>
                <a:spcPts val="0"/>
              </a:spcBef>
              <a:spcAft>
                <a:spcPts val="0"/>
              </a:spcAft>
            </a:pPr>
            <a:r>
              <a:rPr sz="1600" b="0" i="0">
                <a:solidFill>
                  <a:srgbClr val="FFFFFF"/>
                </a:solidFill>
                <a:latin typeface="Calibri"/>
                <a:ea typeface="Calibri"/>
                <a:cs typeface="Calibri"/>
              </a:rPr>
              <a:t>________________</a:t>
            </a:r>
          </a:p>
        </p:txBody>
      </p:sp>
      <p:sp>
        <p:nvSpPr>
          <p:cNvPr id="13" name="TextBox 12"/>
          <p:cNvSpPr txBox="1"/>
          <p:nvPr/>
        </p:nvSpPr>
        <p:spPr>
          <a:xfrm>
            <a:off x="8229600" y="4617720"/>
            <a:ext cx="3383280" cy="256032"/>
          </a:xfrm>
          <a:prstGeom prst="rect">
            <a:avLst/>
          </a:prstGeom>
          <a:noFill/>
        </p:spPr>
        <p:txBody>
          <a:bodyPr wrap="square" lIns="36576" rIns="36576" tIns="25603" bIns="18288" anchor="t"/>
          <a:lstStyle/>
          <a:p>
            <a:pPr algn="l">
              <a:spcBef>
                <a:spcPts val="0"/>
              </a:spcBef>
              <a:spcAft>
                <a:spcPts val="0"/>
              </a:spcAft>
            </a:pPr>
            <a:r>
              <a:rPr sz="1200" b="0" i="0">
                <a:solidFill>
                  <a:srgbClr val="C47E12"/>
                </a:solidFill>
                <a:latin typeface="Calibri"/>
                <a:ea typeface="Calibri"/>
                <a:cs typeface="Calibri"/>
              </a:rPr>
              <a:t>Giảng viên hướng dẫn</a:t>
            </a:r>
          </a:p>
        </p:txBody>
      </p:sp>
      <p:sp>
        <p:nvSpPr>
          <p:cNvPr id="14" name="TextBox 13"/>
          <p:cNvSpPr txBox="1"/>
          <p:nvPr/>
        </p:nvSpPr>
        <p:spPr>
          <a:xfrm>
            <a:off x="8229600" y="4864608"/>
            <a:ext cx="3383280" cy="320040"/>
          </a:xfrm>
          <a:prstGeom prst="rect">
            <a:avLst/>
          </a:prstGeom>
          <a:noFill/>
        </p:spPr>
        <p:txBody>
          <a:bodyPr wrap="square" lIns="36576" rIns="36576" tIns="25603" bIns="18288" anchor="t"/>
          <a:lstStyle/>
          <a:p>
            <a:pPr algn="l">
              <a:spcBef>
                <a:spcPts val="0"/>
              </a:spcBef>
              <a:spcAft>
                <a:spcPts val="0"/>
              </a:spcAft>
            </a:pPr>
            <a:r>
              <a:rPr sz="1600" b="0" i="0">
                <a:solidFill>
                  <a:srgbClr val="FFFFFF"/>
                </a:solidFill>
                <a:latin typeface="Calibri"/>
                <a:ea typeface="Calibri"/>
                <a:cs typeface="Calibri"/>
              </a:rPr>
              <a:t>________________________</a:t>
            </a:r>
          </a:p>
        </p:txBody>
      </p:sp>
      <p:sp>
        <p:nvSpPr>
          <p:cNvPr id="15" name="TextBox 14"/>
          <p:cNvSpPr txBox="1"/>
          <p:nvPr/>
        </p:nvSpPr>
        <p:spPr>
          <a:xfrm>
            <a:off x="502920" y="5623560"/>
            <a:ext cx="11155680" cy="320040"/>
          </a:xfrm>
          <a:prstGeom prst="rect">
            <a:avLst/>
          </a:prstGeom>
          <a:noFill/>
        </p:spPr>
        <p:txBody>
          <a:bodyPr wrap="square" lIns="36576" rIns="36576" tIns="25603" bIns="18288" anchor="t"/>
          <a:lstStyle/>
          <a:p>
            <a:pPr algn="l">
              <a:spcBef>
                <a:spcPts val="0"/>
              </a:spcBef>
              <a:spcAft>
                <a:spcPts val="0"/>
              </a:spcAft>
            </a:pPr>
            <a:r>
              <a:rPr sz="1300" b="0" i="0">
                <a:solidFill>
                  <a:srgbClr val="9AB0C4"/>
                </a:solidFill>
                <a:latin typeface="Calibri"/>
                <a:ea typeface="Calibri"/>
                <a:cs typeface="Calibri"/>
              </a:rPr>
              <a:t>Tháng 9 năm 2026  ·  10 slide  ·  số đo trên máy lab, không bịa</a:t>
            </a:r>
          </a:p>
        </p:txBody>
      </p:sp>
      <p:sp>
        <p:nvSpPr>
          <p:cNvPr id="16" name="TextBox 15"/>
          <p:cNvSpPr txBox="1"/>
          <p:nvPr/>
        </p:nvSpPr>
        <p:spPr>
          <a:xfrm>
            <a:off x="502920" y="6263640"/>
            <a:ext cx="11155680" cy="256032"/>
          </a:xfrm>
          <a:prstGeom prst="rect">
            <a:avLst/>
          </a:prstGeom>
          <a:noFill/>
        </p:spPr>
        <p:txBody>
          <a:bodyPr wrap="square" lIns="36576" rIns="36576" tIns="25603" bIns="18288" anchor="t"/>
          <a:lstStyle/>
          <a:p>
            <a:pPr algn="l">
              <a:spcBef>
                <a:spcPts val="0"/>
              </a:spcBef>
              <a:spcAft>
                <a:spcPts val="0"/>
              </a:spcAft>
            </a:pPr>
            <a:r>
              <a:rPr sz="1200" b="0" i="0">
                <a:solidFill>
                  <a:srgbClr val="9AB0C4"/>
                </a:solidFill>
                <a:latin typeface="Calibri"/>
                <a:ea typeface="Calibri"/>
                <a:cs typeface="Calibri"/>
              </a:rPr>
              <a:t>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47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6304"/>
            <a:ext cx="11338560" cy="256032"/>
          </a:xfrm>
          <a:prstGeom prst="rect">
            <a:avLst/>
          </a:prstGeom>
          <a:noFill/>
        </p:spPr>
        <p:txBody>
          <a:bodyPr wrap="square" lIns="36576" rIns="36576" tIns="25603" bIns="18288" anchor="ctr"/>
          <a:lstStyle/>
          <a:p>
            <a:pPr algn="l">
              <a:spcBef>
                <a:spcPts val="0"/>
              </a:spcBef>
              <a:spcAft>
                <a:spcPts val="0"/>
              </a:spcAft>
            </a:pPr>
            <a:r>
              <a:rPr sz="1100" b="0" i="0">
                <a:solidFill>
                  <a:srgbClr val="C47E12"/>
                </a:solidFill>
                <a:latin typeface="Calibri"/>
                <a:ea typeface="Calibri"/>
                <a:cs typeface="Calibri"/>
              </a:rPr>
              <a:t>VẤN ĐỀ</a:t>
            </a:r>
          </a:p>
        </p:txBody>
      </p:sp>
      <p:sp>
        <p:nvSpPr>
          <p:cNvPr id="6" name="TextBox 5"/>
          <p:cNvSpPr txBox="1"/>
          <p:nvPr/>
        </p:nvSpPr>
        <p:spPr>
          <a:xfrm>
            <a:off x="411480" y="384048"/>
            <a:ext cx="11338560" cy="475488"/>
          </a:xfrm>
          <a:prstGeom prst="rect">
            <a:avLst/>
          </a:prstGeom>
          <a:noFill/>
        </p:spPr>
        <p:txBody>
          <a:bodyPr wrap="square" lIns="36576" rIns="36576" tIns="25603" bIns="18288" anchor="ctr"/>
          <a:lstStyle/>
          <a:p>
            <a:pPr algn="l">
              <a:spcBef>
                <a:spcPts val="0"/>
              </a:spcBef>
              <a:spcAft>
                <a:spcPts val="0"/>
              </a:spcAft>
            </a:pPr>
            <a:r>
              <a:rPr sz="2600" b="1" i="0">
                <a:solidFill>
                  <a:srgbClr val="FFFFFF"/>
                </a:solidFill>
                <a:latin typeface="Calibri"/>
                <a:ea typeface="Calibri"/>
                <a:cs typeface="Calibri"/>
              </a:rPr>
              <a:t>ER ~99% không chứng minh XSS còn chạy</a:t>
            </a:r>
          </a:p>
        </p:txBody>
      </p:sp>
      <p:sp>
        <p:nvSpPr>
          <p:cNvPr id="7" name="TextBox 6"/>
          <p:cNvSpPr txBox="1"/>
          <p:nvPr/>
        </p:nvSpPr>
        <p:spPr>
          <a:xfrm>
            <a:off x="411480" y="1143000"/>
            <a:ext cx="11338560" cy="1188720"/>
          </a:xfrm>
          <a:prstGeom prst="rect">
            <a:avLst/>
          </a:prstGeom>
          <a:noFill/>
        </p:spPr>
        <p:txBody>
          <a:bodyPr wrap="square" lIns="54864" rIns="54864" tIns="38404" bIns="27432"/>
          <a:lstStyle/>
          <a:p>
            <a:pPr algn="l">
              <a:spcBef>
                <a:spcPts val="0"/>
              </a:spcBef>
              <a:spcAft>
                <a:spcPts val="0"/>
              </a:spcAft>
            </a:pPr>
            <a:r>
              <a:rPr sz="1700" b="0" i="0">
                <a:solidFill>
                  <a:srgbClr val="1A1F26"/>
                </a:solidFill>
                <a:latin typeface="Calibri"/>
                <a:ea typeface="Calibri"/>
                <a:cs typeface="Calibri"/>
              </a:rPr>
              <a:t>Chen et al. (2022) huấn luyện RL để payload XSS “lọt” detector học sâu, báo Escape Rate ~99%.</a:t>
            </a:r>
          </a:p>
          <a:p>
            <a:pPr algn="l">
              <a:spcBef>
                <a:spcPts val="600"/>
              </a:spcBef>
              <a:spcAft>
                <a:spcPts val="0"/>
              </a:spcAft>
            </a:pPr>
            <a:r>
              <a:rPr sz="1700" b="1" i="0">
                <a:solidFill>
                  <a:srgbClr val="1A1F26"/>
                </a:solidFill>
                <a:latin typeface="Calibri"/>
                <a:ea typeface="Calibri"/>
                <a:cs typeface="Calibri"/>
              </a:rPr>
              <a:t>Họ không kiểm tra payload còn thực thi được trong trình duyệt.</a:t>
            </a:r>
          </a:p>
          <a:p>
            <a:pPr algn="l">
              <a:spcBef>
                <a:spcPts val="600"/>
              </a:spcBef>
              <a:spcAft>
                <a:spcPts val="0"/>
              </a:spcAft>
            </a:pPr>
            <a:r>
              <a:rPr sz="1700" b="0" i="0">
                <a:solidFill>
                  <a:srgbClr val="1A1F26"/>
                </a:solidFill>
                <a:latin typeface="Calibri"/>
                <a:ea typeface="Calibri"/>
                <a:cs typeface="Calibri"/>
              </a:rPr>
              <a:t>Pasini et al. (JSS 2026) thêm Oracle DOM và chỉ ra phần lớn “lọt” đến từ tiền xử lý / token None (TH2).</a:t>
            </a:r>
          </a:p>
        </p:txBody>
      </p:sp>
      <p:sp>
        <p:nvSpPr>
          <p:cNvPr id="8" name="Rounded Rectangle 7"/>
          <p:cNvSpPr/>
          <p:nvPr/>
        </p:nvSpPr>
        <p:spPr>
          <a:xfrm>
            <a:off x="411480" y="2514600"/>
            <a:ext cx="3657600" cy="1417320"/>
          </a:xfrm>
          <a:prstGeom prst="roundRect">
            <a:avLst>
              <a:gd name="adj" fmla="val 6000"/>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 rIns="91440" tIns="64007" bIns="45720"/>
          <a:lstStyle/>
          <a:p>
            <a:pPr algn="ctr"/>
            <a:r>
              <a:rPr sz="1100" b="1" i="0">
                <a:solidFill>
                  <a:srgbClr val="E8D7A8"/>
                </a:solidFill>
                <a:latin typeface="Calibri"/>
                <a:ea typeface="Calibri"/>
                <a:cs typeface="Calibri"/>
              </a:rPr>
              <a:t>W1  ·  ORACLE DOM</a:t>
            </a:r>
          </a:p>
          <a:p>
            <a:pPr algn="ctr">
              <a:spcBef>
                <a:spcPts val="400"/>
              </a:spcBef>
            </a:pPr>
            <a:r>
              <a:rPr sz="2600" b="1" i="0">
                <a:solidFill>
                  <a:srgbClr val="FFFFFF"/>
                </a:solidFill>
                <a:latin typeface="Calibri"/>
                <a:ea typeface="Calibri"/>
                <a:cs typeface="Calibri"/>
              </a:rPr>
              <a:t>23,4%</a:t>
            </a:r>
          </a:p>
          <a:p>
            <a:pPr algn="ctr">
              <a:spcBef>
                <a:spcPts val="200"/>
              </a:spcBef>
            </a:pPr>
            <a:r>
              <a:rPr sz="1100" b="0" i="0">
                <a:solidFill>
                  <a:srgbClr val="D0DCE8"/>
                </a:solidFill>
                <a:latin typeface="Calibri"/>
                <a:ea typeface="Calibri"/>
                <a:cs typeface="Calibri"/>
              </a:rPr>
              <a:t>Mereani “độc” chỉ đổi cây HTML, JS không chạy  (3.542 / 15.149)</a:t>
            </a:r>
          </a:p>
        </p:txBody>
      </p:sp>
      <p:sp>
        <p:nvSpPr>
          <p:cNvPr id="9" name="Rounded Rectangle 8"/>
          <p:cNvSpPr/>
          <p:nvPr/>
        </p:nvSpPr>
        <p:spPr>
          <a:xfrm>
            <a:off x="4251960" y="2514600"/>
            <a:ext cx="3657600" cy="1417320"/>
          </a:xfrm>
          <a:prstGeom prst="roundRect">
            <a:avLst>
              <a:gd name="adj" fmla="val 6000"/>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 rIns="91440" tIns="64007" bIns="45720"/>
          <a:lstStyle/>
          <a:p>
            <a:pPr algn="ctr"/>
            <a:r>
              <a:rPr sz="1100" b="1" i="0">
                <a:solidFill>
                  <a:srgbClr val="E8D7A8"/>
                </a:solidFill>
                <a:latin typeface="Calibri"/>
                <a:ea typeface="Calibri"/>
                <a:cs typeface="Calibri"/>
              </a:rPr>
              <a:t>W4  ·  TABLE 4</a:t>
            </a:r>
          </a:p>
          <a:p>
            <a:pPr algn="ctr">
              <a:spcBef>
                <a:spcPts val="400"/>
              </a:spcBef>
            </a:pPr>
            <a:r>
              <a:rPr sz="2600" b="1" i="0">
                <a:solidFill>
                  <a:srgbClr val="FFFFFF"/>
                </a:solidFill>
                <a:latin typeface="Calibri"/>
                <a:ea typeface="Calibri"/>
                <a:cs typeface="Calibri"/>
              </a:rPr>
              <a:t>1 bộ số</a:t>
            </a:r>
          </a:p>
          <a:p>
            <a:pPr algn="ctr">
              <a:spcBef>
                <a:spcPts val="200"/>
              </a:spcBef>
            </a:pPr>
            <a:r>
              <a:rPr sz="1100" b="0" i="0">
                <a:solidFill>
                  <a:srgbClr val="D0DCE8"/>
                </a:solidFill>
                <a:latin typeface="Calibri"/>
                <a:ea typeface="Calibri"/>
                <a:cs typeface="Calibri"/>
              </a:rPr>
              <a:t>MLP = LSTM = CNN  ·  P 99,67  R 100  Acc 99,83</a:t>
            </a:r>
          </a:p>
        </p:txBody>
      </p:sp>
      <p:sp>
        <p:nvSpPr>
          <p:cNvPr id="10" name="Rounded Rectangle 9"/>
          <p:cNvSpPr/>
          <p:nvPr/>
        </p:nvSpPr>
        <p:spPr>
          <a:xfrm>
            <a:off x="8092440" y="2514600"/>
            <a:ext cx="3657600" cy="1417320"/>
          </a:xfrm>
          <a:prstGeom prst="roundRect">
            <a:avLst>
              <a:gd name="adj" fmla="val 6000"/>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 rIns="91440" tIns="64007" bIns="45720"/>
          <a:lstStyle/>
          <a:p>
            <a:pPr algn="ctr"/>
            <a:r>
              <a:rPr sz="1100" b="1" i="0">
                <a:solidFill>
                  <a:srgbClr val="E8D7A8"/>
                </a:solidFill>
                <a:latin typeface="Calibri"/>
                <a:ea typeface="Calibri"/>
                <a:cs typeface="Calibri"/>
              </a:rPr>
              <a:t>TH2  ·  OOV / NONE</a:t>
            </a:r>
          </a:p>
          <a:p>
            <a:pPr algn="ctr">
              <a:spcBef>
                <a:spcPts val="400"/>
              </a:spcBef>
            </a:pPr>
            <a:r>
              <a:rPr sz="2600" b="1" i="0">
                <a:solidFill>
                  <a:srgbClr val="FFFFFF"/>
                </a:solidFill>
                <a:latin typeface="Calibri"/>
                <a:ea typeface="Calibri"/>
                <a:cs typeface="Calibri"/>
              </a:rPr>
              <a:t>~48%</a:t>
            </a:r>
          </a:p>
          <a:p>
            <a:pPr algn="ctr">
              <a:spcBef>
                <a:spcPts val="200"/>
              </a:spcBef>
            </a:pPr>
            <a:r>
              <a:rPr sz="1100" b="0" i="0">
                <a:solidFill>
                  <a:srgbClr val="D0DCE8"/>
                </a:solidFill>
                <a:latin typeface="Calibri"/>
                <a:ea typeface="Calibri"/>
                <a:cs typeface="Calibri"/>
              </a:rPr>
              <a:t>token None trên mẫu lọt  ·  detector “mù”</a:t>
            </a:r>
          </a:p>
        </p:txBody>
      </p:sp>
      <p:sp>
        <p:nvSpPr>
          <p:cNvPr id="11" name="Rounded Rectangle 10"/>
          <p:cNvSpPr/>
          <p:nvPr/>
        </p:nvSpPr>
        <p:spPr>
          <a:xfrm>
            <a:off x="411480" y="4114800"/>
            <a:ext cx="11338560" cy="2194560"/>
          </a:xfrm>
          <a:prstGeom prst="roundRect">
            <a:avLst>
              <a:gd name="adj" fmla="val 6000"/>
            </a:avLst>
          </a:prstGeom>
          <a:solidFill>
            <a:srgbClr val="FFFFFF"/>
          </a:solidFill>
          <a:ln w="12700">
            <a:solidFill>
              <a:srgbClr val="D4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4187952"/>
            <a:ext cx="11064240" cy="2057400"/>
          </a:xfrm>
          <a:prstGeom prst="rect">
            <a:avLst/>
          </a:prstGeom>
          <a:noFill/>
        </p:spPr>
        <p:txBody>
          <a:bodyPr wrap="square" lIns="54864" rIns="54864" tIns="38404" bIns="27432"/>
          <a:lstStyle/>
          <a:p>
            <a:pPr algn="l">
              <a:spcBef>
                <a:spcPts val="0"/>
              </a:spcBef>
              <a:spcAft>
                <a:spcPts val="0"/>
              </a:spcAft>
            </a:pPr>
            <a:r>
              <a:rPr sz="1500" b="1" i="0">
                <a:solidFill>
                  <a:srgbClr val="0E2744"/>
                </a:solidFill>
                <a:latin typeface="Calibri"/>
                <a:ea typeface="Calibri"/>
                <a:cs typeface="Calibri"/>
              </a:rPr>
              <a:t>Ba câu hỏi đồ án</a:t>
            </a:r>
          </a:p>
          <a:p>
            <a:pPr algn="l">
              <a:spcBef>
                <a:spcPts val="500"/>
              </a:spcBef>
              <a:spcAft>
                <a:spcPts val="0"/>
              </a:spcAft>
            </a:pPr>
            <a:r>
              <a:rPr sz="1600" b="0" i="0">
                <a:solidFill>
                  <a:srgbClr val="1A1F26"/>
                </a:solidFill>
                <a:latin typeface="Calibri"/>
                <a:ea typeface="Calibri"/>
                <a:cs typeface="Calibri"/>
              </a:rPr>
              <a:t>(i) Protocol Pasini có lặp lại được trên đúng artifact data/10 không?</a:t>
            </a:r>
          </a:p>
          <a:p>
            <a:pPr algn="l">
              <a:spcBef>
                <a:spcPts val="500"/>
              </a:spcBef>
              <a:spcAft>
                <a:spcPts val="0"/>
              </a:spcAft>
            </a:pPr>
            <a:r>
              <a:rPr sz="1600" b="0" i="0">
                <a:solidFill>
                  <a:srgbClr val="1A1F26"/>
                </a:solidFill>
                <a:latin typeface="Calibri"/>
                <a:ea typeface="Calibri"/>
                <a:cs typeface="Calibri"/>
              </a:rPr>
              <a:t>(ii) Khi khép token-id và siết Oracle thành thực thi JS, ER 99% còn không?</a:t>
            </a:r>
          </a:p>
          <a:p>
            <a:pPr algn="l">
              <a:spcBef>
                <a:spcPts val="500"/>
              </a:spcBef>
              <a:spcAft>
                <a:spcPts val="0"/>
              </a:spcAft>
            </a:pPr>
            <a:r>
              <a:rPr sz="1600" b="0" i="0">
                <a:solidFill>
                  <a:srgbClr val="1A1F26"/>
                </a:solidFill>
                <a:latin typeface="Calibri"/>
                <a:ea typeface="Calibri"/>
                <a:cs typeface="Calibri"/>
              </a:rPr>
              <a:t>(iii) Catalog 27 action có tạo được payload vừa lọt CRS lab vừa còn execute không?</a:t>
            </a:r>
          </a:p>
        </p:txBody>
      </p:sp>
      <p:sp>
        <p:nvSpPr>
          <p:cNvPr id="13" name="Rectangle 12"/>
          <p:cNvSpPr/>
          <p:nvPr/>
        </p:nvSpPr>
        <p:spPr>
          <a:xfrm>
            <a:off x="0" y="6565392"/>
            <a:ext cx="12191695" cy="29260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6565392"/>
            <a:ext cx="8686800" cy="292608"/>
          </a:xfrm>
          <a:prstGeom prst="rect">
            <a:avLst/>
          </a:prstGeom>
          <a:noFill/>
        </p:spPr>
        <p:txBody>
          <a:bodyPr wrap="square" lIns="36576" rIns="36576" tIns="25603" bIns="18288" anchor="ctr"/>
          <a:lstStyle/>
          <a:p>
            <a:pPr algn="l">
              <a:spcBef>
                <a:spcPts val="0"/>
              </a:spcBef>
              <a:spcAft>
                <a:spcPts val="0"/>
              </a:spcAft>
            </a:pPr>
            <a:r>
              <a:rPr sz="1100" b="0" i="0">
                <a:solidFill>
                  <a:srgbClr val="FFFFFF"/>
                </a:solidFill>
                <a:latin typeface="Calibri"/>
                <a:ea typeface="Calibri"/>
                <a:cs typeface="Calibri"/>
              </a:rPr>
              <a:t>ATBMHTTT  ·  Không trộn nhánh A (~99%) với nhánh B (~1%)  ·  TASR = HTTP 200 VÀ JS chạy</a:t>
            </a:r>
          </a:p>
        </p:txBody>
      </p:sp>
      <p:sp>
        <p:nvSpPr>
          <p:cNvPr id="15" name="TextBox 14"/>
          <p:cNvSpPr txBox="1"/>
          <p:nvPr/>
        </p:nvSpPr>
        <p:spPr>
          <a:xfrm>
            <a:off x="10515600" y="6565392"/>
            <a:ext cx="1371600" cy="292608"/>
          </a:xfrm>
          <a:prstGeom prst="rect">
            <a:avLst/>
          </a:prstGeom>
          <a:noFill/>
        </p:spPr>
        <p:txBody>
          <a:bodyPr wrap="square" lIns="36576" rIns="36576" tIns="25603" bIns="18288" anchor="ctr"/>
          <a:lstStyle/>
          <a:p>
            <a:pPr algn="r">
              <a:spcBef>
                <a:spcPts val="0"/>
              </a:spcBef>
              <a:spcAft>
                <a:spcPts val="0"/>
              </a:spcAft>
            </a:pPr>
            <a:r>
              <a:rPr sz="1100" b="0" i="0">
                <a:solidFill>
                  <a:srgbClr val="FFFFFF"/>
                </a:solidFill>
                <a:latin typeface="Calibri"/>
                <a:ea typeface="Calibri"/>
                <a:cs typeface="Calibri"/>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47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6304"/>
            <a:ext cx="11338560" cy="256032"/>
          </a:xfrm>
          <a:prstGeom prst="rect">
            <a:avLst/>
          </a:prstGeom>
          <a:noFill/>
        </p:spPr>
        <p:txBody>
          <a:bodyPr wrap="square" lIns="36576" rIns="36576" tIns="25603" bIns="18288" anchor="ctr"/>
          <a:lstStyle/>
          <a:p>
            <a:pPr algn="l">
              <a:spcBef>
                <a:spcPts val="0"/>
              </a:spcBef>
              <a:spcAft>
                <a:spcPts val="0"/>
              </a:spcAft>
            </a:pPr>
            <a:r>
              <a:rPr sz="1100" b="0" i="0">
                <a:solidFill>
                  <a:srgbClr val="C47E12"/>
                </a:solidFill>
                <a:latin typeface="Calibri"/>
                <a:ea typeface="Calibri"/>
                <a:cs typeface="Calibri"/>
              </a:rPr>
              <a:t>ĐỀ TÀI</a:t>
            </a:r>
          </a:p>
        </p:txBody>
      </p:sp>
      <p:sp>
        <p:nvSpPr>
          <p:cNvPr id="6" name="TextBox 5"/>
          <p:cNvSpPr txBox="1"/>
          <p:nvPr/>
        </p:nvSpPr>
        <p:spPr>
          <a:xfrm>
            <a:off x="411480" y="384048"/>
            <a:ext cx="11338560" cy="475488"/>
          </a:xfrm>
          <a:prstGeom prst="rect">
            <a:avLst/>
          </a:prstGeom>
          <a:noFill/>
        </p:spPr>
        <p:txBody>
          <a:bodyPr wrap="square" lIns="36576" rIns="36576" tIns="25603" bIns="18288" anchor="ctr"/>
          <a:lstStyle/>
          <a:p>
            <a:pPr algn="l">
              <a:spcBef>
                <a:spcPts val="0"/>
              </a:spcBef>
              <a:spcAft>
                <a:spcPts val="0"/>
              </a:spcAft>
            </a:pPr>
            <a:r>
              <a:rPr sz="2600" b="1" i="0">
                <a:solidFill>
                  <a:srgbClr val="FFFFFF"/>
                </a:solidFill>
                <a:latin typeface="Calibri"/>
                <a:ea typeface="Calibri"/>
                <a:cs typeface="Calibri"/>
              </a:rPr>
              <a:t>Sinh mẫu đối kháng  →  kiểm tra bộ lọc</a:t>
            </a:r>
          </a:p>
        </p:txBody>
      </p:sp>
      <p:sp>
        <p:nvSpPr>
          <p:cNvPr id="7" name="Rounded Rectangle 6"/>
          <p:cNvSpPr/>
          <p:nvPr/>
        </p:nvSpPr>
        <p:spPr>
          <a:xfrm>
            <a:off x="411480" y="1170432"/>
            <a:ext cx="2697480" cy="1417320"/>
          </a:xfrm>
          <a:prstGeom prst="roundRect">
            <a:avLst>
              <a:gd name="adj" fmla="val 6000"/>
            </a:avLst>
          </a:prstGeom>
          <a:solidFill>
            <a:srgbClr val="FFFFFF"/>
          </a:solidFill>
          <a:ln w="19050">
            <a:solidFill>
              <a:srgbClr val="0E2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8" y="1234440"/>
            <a:ext cx="365760" cy="320040"/>
          </a:xfrm>
          <a:prstGeom prst="rect">
            <a:avLst/>
          </a:prstGeom>
          <a:noFill/>
        </p:spPr>
        <p:txBody>
          <a:bodyPr wrap="square" lIns="36576" rIns="36576" tIns="25603" bIns="18288" anchor="t"/>
          <a:lstStyle/>
          <a:p>
            <a:pPr algn="l">
              <a:spcBef>
                <a:spcPts val="0"/>
              </a:spcBef>
              <a:spcAft>
                <a:spcPts val="0"/>
              </a:spcAft>
            </a:pPr>
            <a:r>
              <a:rPr sz="1600" b="1" i="0">
                <a:solidFill>
                  <a:srgbClr val="C47E12"/>
                </a:solidFill>
                <a:latin typeface="Calibri"/>
                <a:ea typeface="Calibri"/>
                <a:cs typeface="Calibri"/>
              </a:rPr>
              <a:t>1</a:t>
            </a:r>
          </a:p>
        </p:txBody>
      </p:sp>
      <p:sp>
        <p:nvSpPr>
          <p:cNvPr id="9" name="TextBox 8"/>
          <p:cNvSpPr txBox="1"/>
          <p:nvPr/>
        </p:nvSpPr>
        <p:spPr>
          <a:xfrm>
            <a:off x="548640" y="1554480"/>
            <a:ext cx="2423160" cy="411480"/>
          </a:xfrm>
          <a:prstGeom prst="rect">
            <a:avLst/>
          </a:prstGeom>
          <a:noFill/>
        </p:spPr>
        <p:txBody>
          <a:bodyPr wrap="square" lIns="36576" rIns="36576" tIns="25603" bIns="18288" anchor="t"/>
          <a:lstStyle/>
          <a:p>
            <a:pPr algn="l">
              <a:spcBef>
                <a:spcPts val="0"/>
              </a:spcBef>
              <a:spcAft>
                <a:spcPts val="0"/>
              </a:spcAft>
            </a:pPr>
            <a:r>
              <a:rPr sz="1600" b="1" i="0">
                <a:solidFill>
                  <a:srgbClr val="0E2744"/>
                </a:solidFill>
                <a:latin typeface="Calibri"/>
                <a:ea typeface="Calibri"/>
                <a:cs typeface="Calibri"/>
              </a:rPr>
              <a:t>Payload độc</a:t>
            </a:r>
          </a:p>
        </p:txBody>
      </p:sp>
      <p:sp>
        <p:nvSpPr>
          <p:cNvPr id="10" name="TextBox 9"/>
          <p:cNvSpPr txBox="1"/>
          <p:nvPr/>
        </p:nvSpPr>
        <p:spPr>
          <a:xfrm>
            <a:off x="548640" y="1965960"/>
            <a:ext cx="2423160" cy="457200"/>
          </a:xfrm>
          <a:prstGeom prst="rect">
            <a:avLst/>
          </a:prstGeom>
          <a:noFill/>
        </p:spPr>
        <p:txBody>
          <a:bodyPr wrap="square" lIns="36576" rIns="36576" tIns="25603" bIns="18288" anchor="t"/>
          <a:lstStyle/>
          <a:p>
            <a:pPr algn="l">
              <a:spcBef>
                <a:spcPts val="0"/>
              </a:spcBef>
              <a:spcAft>
                <a:spcPts val="0"/>
              </a:spcAft>
            </a:pPr>
            <a:r>
              <a:rPr sz="1300" b="0" i="0">
                <a:solidFill>
                  <a:srgbClr val="5A6570"/>
                </a:solidFill>
                <a:latin typeface="Calibri"/>
                <a:ea typeface="Calibri"/>
                <a:cs typeface="Calibri"/>
              </a:rPr>
              <a:t>Oracle JS chạy</a:t>
            </a:r>
          </a:p>
        </p:txBody>
      </p:sp>
      <p:sp>
        <p:nvSpPr>
          <p:cNvPr id="11" name="TextBox 10"/>
          <p:cNvSpPr txBox="1"/>
          <p:nvPr/>
        </p:nvSpPr>
        <p:spPr>
          <a:xfrm>
            <a:off x="3017520" y="1600200"/>
            <a:ext cx="365760" cy="457200"/>
          </a:xfrm>
          <a:prstGeom prst="rect">
            <a:avLst/>
          </a:prstGeom>
          <a:noFill/>
        </p:spPr>
        <p:txBody>
          <a:bodyPr wrap="square" lIns="36576" rIns="36576" tIns="25603" bIns="18288" anchor="t"/>
          <a:lstStyle/>
          <a:p>
            <a:pPr algn="ctr">
              <a:spcBef>
                <a:spcPts val="0"/>
              </a:spcBef>
              <a:spcAft>
                <a:spcPts val="0"/>
              </a:spcAft>
            </a:pPr>
            <a:r>
              <a:rPr sz="2200" b="1" i="0">
                <a:solidFill>
                  <a:srgbClr val="C47E12"/>
                </a:solidFill>
                <a:latin typeface="Calibri"/>
                <a:ea typeface="Calibri"/>
                <a:cs typeface="Calibri"/>
              </a:rPr>
              <a:t>→</a:t>
            </a:r>
          </a:p>
        </p:txBody>
      </p:sp>
      <p:sp>
        <p:nvSpPr>
          <p:cNvPr id="12" name="Rounded Rectangle 11"/>
          <p:cNvSpPr/>
          <p:nvPr/>
        </p:nvSpPr>
        <p:spPr>
          <a:xfrm>
            <a:off x="3355848" y="1170432"/>
            <a:ext cx="2697480" cy="1417320"/>
          </a:xfrm>
          <a:prstGeom prst="roundRect">
            <a:avLst>
              <a:gd name="adj" fmla="val 6000"/>
            </a:avLst>
          </a:prstGeom>
          <a:solidFill>
            <a:srgbClr val="FFFFFF"/>
          </a:solidFill>
          <a:ln w="19050">
            <a:solidFill>
              <a:srgbClr val="0E2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65576" y="1234440"/>
            <a:ext cx="365760" cy="320040"/>
          </a:xfrm>
          <a:prstGeom prst="rect">
            <a:avLst/>
          </a:prstGeom>
          <a:noFill/>
        </p:spPr>
        <p:txBody>
          <a:bodyPr wrap="square" lIns="36576" rIns="36576" tIns="25603" bIns="18288" anchor="t"/>
          <a:lstStyle/>
          <a:p>
            <a:pPr algn="l">
              <a:spcBef>
                <a:spcPts val="0"/>
              </a:spcBef>
              <a:spcAft>
                <a:spcPts val="0"/>
              </a:spcAft>
            </a:pPr>
            <a:r>
              <a:rPr sz="1600" b="1" i="0">
                <a:solidFill>
                  <a:srgbClr val="C47E12"/>
                </a:solidFill>
                <a:latin typeface="Calibri"/>
                <a:ea typeface="Calibri"/>
                <a:cs typeface="Calibri"/>
              </a:rPr>
              <a:t>2</a:t>
            </a:r>
          </a:p>
        </p:txBody>
      </p:sp>
      <p:sp>
        <p:nvSpPr>
          <p:cNvPr id="14" name="TextBox 13"/>
          <p:cNvSpPr txBox="1"/>
          <p:nvPr/>
        </p:nvSpPr>
        <p:spPr>
          <a:xfrm>
            <a:off x="3493008" y="1554480"/>
            <a:ext cx="2423160" cy="411480"/>
          </a:xfrm>
          <a:prstGeom prst="rect">
            <a:avLst/>
          </a:prstGeom>
          <a:noFill/>
        </p:spPr>
        <p:txBody>
          <a:bodyPr wrap="square" lIns="36576" rIns="36576" tIns="25603" bIns="18288" anchor="t"/>
          <a:lstStyle/>
          <a:p>
            <a:pPr algn="l">
              <a:spcBef>
                <a:spcPts val="0"/>
              </a:spcBef>
              <a:spcAft>
                <a:spcPts val="0"/>
              </a:spcAft>
            </a:pPr>
            <a:r>
              <a:rPr sz="1600" b="1" i="0">
                <a:solidFill>
                  <a:srgbClr val="0E2744"/>
                </a:solidFill>
                <a:latin typeface="Calibri"/>
                <a:ea typeface="Calibri"/>
                <a:cs typeface="Calibri"/>
              </a:rPr>
              <a:t>PPO chọn action</a:t>
            </a:r>
          </a:p>
        </p:txBody>
      </p:sp>
      <p:sp>
        <p:nvSpPr>
          <p:cNvPr id="15" name="TextBox 14"/>
          <p:cNvSpPr txBox="1"/>
          <p:nvPr/>
        </p:nvSpPr>
        <p:spPr>
          <a:xfrm>
            <a:off x="3493008" y="1965960"/>
            <a:ext cx="2423160" cy="457200"/>
          </a:xfrm>
          <a:prstGeom prst="rect">
            <a:avLst/>
          </a:prstGeom>
          <a:noFill/>
        </p:spPr>
        <p:txBody>
          <a:bodyPr wrap="square" lIns="36576" rIns="36576" tIns="25603" bIns="18288" anchor="t"/>
          <a:lstStyle/>
          <a:p>
            <a:pPr algn="l">
              <a:spcBef>
                <a:spcPts val="0"/>
              </a:spcBef>
              <a:spcAft>
                <a:spcPts val="0"/>
              </a:spcAft>
            </a:pPr>
            <a:r>
              <a:rPr sz="1300" b="0" i="0">
                <a:solidFill>
                  <a:srgbClr val="5A6570"/>
                </a:solidFill>
                <a:latin typeface="Calibri"/>
                <a:ea typeface="Calibri"/>
                <a:cs typeface="Calibri"/>
              </a:rPr>
              <a:t>1 trong 27 Table 2</a:t>
            </a:r>
          </a:p>
        </p:txBody>
      </p:sp>
      <p:sp>
        <p:nvSpPr>
          <p:cNvPr id="16" name="TextBox 15"/>
          <p:cNvSpPr txBox="1"/>
          <p:nvPr/>
        </p:nvSpPr>
        <p:spPr>
          <a:xfrm>
            <a:off x="5961888" y="1600200"/>
            <a:ext cx="365760" cy="457200"/>
          </a:xfrm>
          <a:prstGeom prst="rect">
            <a:avLst/>
          </a:prstGeom>
          <a:noFill/>
        </p:spPr>
        <p:txBody>
          <a:bodyPr wrap="square" lIns="36576" rIns="36576" tIns="25603" bIns="18288" anchor="t"/>
          <a:lstStyle/>
          <a:p>
            <a:pPr algn="ctr">
              <a:spcBef>
                <a:spcPts val="0"/>
              </a:spcBef>
              <a:spcAft>
                <a:spcPts val="0"/>
              </a:spcAft>
            </a:pPr>
            <a:r>
              <a:rPr sz="2200" b="1" i="0">
                <a:solidFill>
                  <a:srgbClr val="C47E12"/>
                </a:solidFill>
                <a:latin typeface="Calibri"/>
                <a:ea typeface="Calibri"/>
                <a:cs typeface="Calibri"/>
              </a:rPr>
              <a:t>→</a:t>
            </a:r>
          </a:p>
        </p:txBody>
      </p:sp>
      <p:sp>
        <p:nvSpPr>
          <p:cNvPr id="17" name="Rounded Rectangle 16"/>
          <p:cNvSpPr/>
          <p:nvPr/>
        </p:nvSpPr>
        <p:spPr>
          <a:xfrm>
            <a:off x="6300216" y="1170432"/>
            <a:ext cx="2697480" cy="1417320"/>
          </a:xfrm>
          <a:prstGeom prst="roundRect">
            <a:avLst>
              <a:gd name="adj" fmla="val 6000"/>
            </a:avLst>
          </a:prstGeom>
          <a:solidFill>
            <a:srgbClr val="FFFFFF"/>
          </a:solidFill>
          <a:ln w="19050">
            <a:solidFill>
              <a:srgbClr val="0E2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9944" y="1234440"/>
            <a:ext cx="365760" cy="320040"/>
          </a:xfrm>
          <a:prstGeom prst="rect">
            <a:avLst/>
          </a:prstGeom>
          <a:noFill/>
        </p:spPr>
        <p:txBody>
          <a:bodyPr wrap="square" lIns="36576" rIns="36576" tIns="25603" bIns="18288" anchor="t"/>
          <a:lstStyle/>
          <a:p>
            <a:pPr algn="l">
              <a:spcBef>
                <a:spcPts val="0"/>
              </a:spcBef>
              <a:spcAft>
                <a:spcPts val="0"/>
              </a:spcAft>
            </a:pPr>
            <a:r>
              <a:rPr sz="1600" b="1" i="0">
                <a:solidFill>
                  <a:srgbClr val="C47E12"/>
                </a:solidFill>
                <a:latin typeface="Calibri"/>
                <a:ea typeface="Calibri"/>
                <a:cs typeface="Calibri"/>
              </a:rPr>
              <a:t>3</a:t>
            </a:r>
          </a:p>
        </p:txBody>
      </p:sp>
      <p:sp>
        <p:nvSpPr>
          <p:cNvPr id="19" name="TextBox 18"/>
          <p:cNvSpPr txBox="1"/>
          <p:nvPr/>
        </p:nvSpPr>
        <p:spPr>
          <a:xfrm>
            <a:off x="6437376" y="1554480"/>
            <a:ext cx="2423160" cy="411480"/>
          </a:xfrm>
          <a:prstGeom prst="rect">
            <a:avLst/>
          </a:prstGeom>
          <a:noFill/>
        </p:spPr>
        <p:txBody>
          <a:bodyPr wrap="square" lIns="36576" rIns="36576" tIns="25603" bIns="18288" anchor="t"/>
          <a:lstStyle/>
          <a:p>
            <a:pPr algn="l">
              <a:spcBef>
                <a:spcPts val="0"/>
              </a:spcBef>
              <a:spcAft>
                <a:spcPts val="0"/>
              </a:spcAft>
            </a:pPr>
            <a:r>
              <a:rPr sz="1600" b="1" i="0">
                <a:solidFill>
                  <a:srgbClr val="0E2744"/>
                </a:solidFill>
                <a:latin typeface="Calibri"/>
                <a:ea typeface="Calibri"/>
                <a:cs typeface="Calibri"/>
              </a:rPr>
              <a:t>Mẫu thử</a:t>
            </a:r>
          </a:p>
        </p:txBody>
      </p:sp>
      <p:sp>
        <p:nvSpPr>
          <p:cNvPr id="20" name="TextBox 19"/>
          <p:cNvSpPr txBox="1"/>
          <p:nvPr/>
        </p:nvSpPr>
        <p:spPr>
          <a:xfrm>
            <a:off x="6437376" y="1965960"/>
            <a:ext cx="2423160" cy="457200"/>
          </a:xfrm>
          <a:prstGeom prst="rect">
            <a:avLst/>
          </a:prstGeom>
          <a:noFill/>
        </p:spPr>
        <p:txBody>
          <a:bodyPr wrap="square" lIns="36576" rIns="36576" tIns="25603" bIns="18288" anchor="t"/>
          <a:lstStyle/>
          <a:p>
            <a:pPr algn="l">
              <a:spcBef>
                <a:spcPts val="0"/>
              </a:spcBef>
              <a:spcAft>
                <a:spcPts val="0"/>
              </a:spcAft>
            </a:pPr>
            <a:r>
              <a:rPr sz="1300" b="0" i="0">
                <a:solidFill>
                  <a:srgbClr val="5A6570"/>
                </a:solidFill>
                <a:latin typeface="Calibri"/>
                <a:ea typeface="Calibri"/>
                <a:cs typeface="Calibri"/>
              </a:rPr>
              <a:t>chuỗi sau đột biến</a:t>
            </a:r>
          </a:p>
        </p:txBody>
      </p:sp>
      <p:sp>
        <p:nvSpPr>
          <p:cNvPr id="21" name="TextBox 20"/>
          <p:cNvSpPr txBox="1"/>
          <p:nvPr/>
        </p:nvSpPr>
        <p:spPr>
          <a:xfrm>
            <a:off x="8906256" y="1600200"/>
            <a:ext cx="365760" cy="457200"/>
          </a:xfrm>
          <a:prstGeom prst="rect">
            <a:avLst/>
          </a:prstGeom>
          <a:noFill/>
        </p:spPr>
        <p:txBody>
          <a:bodyPr wrap="square" lIns="36576" rIns="36576" tIns="25603" bIns="18288" anchor="t"/>
          <a:lstStyle/>
          <a:p>
            <a:pPr algn="ctr">
              <a:spcBef>
                <a:spcPts val="0"/>
              </a:spcBef>
              <a:spcAft>
                <a:spcPts val="0"/>
              </a:spcAft>
            </a:pPr>
            <a:r>
              <a:rPr sz="2200" b="1" i="0">
                <a:solidFill>
                  <a:srgbClr val="C47E12"/>
                </a:solidFill>
                <a:latin typeface="Calibri"/>
                <a:ea typeface="Calibri"/>
                <a:cs typeface="Calibri"/>
              </a:rPr>
              <a:t>→</a:t>
            </a:r>
          </a:p>
        </p:txBody>
      </p:sp>
      <p:sp>
        <p:nvSpPr>
          <p:cNvPr id="22" name="Rounded Rectangle 21"/>
          <p:cNvSpPr/>
          <p:nvPr/>
        </p:nvSpPr>
        <p:spPr>
          <a:xfrm>
            <a:off x="9244584" y="1170432"/>
            <a:ext cx="2697480" cy="1417320"/>
          </a:xfrm>
          <a:prstGeom prst="roundRect">
            <a:avLst>
              <a:gd name="adj" fmla="val 6000"/>
            </a:avLst>
          </a:prstGeom>
          <a:solidFill>
            <a:srgbClr val="FFFFFF"/>
          </a:solidFill>
          <a:ln w="19050">
            <a:solidFill>
              <a:srgbClr val="0E27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54311" y="1234440"/>
            <a:ext cx="365760" cy="320040"/>
          </a:xfrm>
          <a:prstGeom prst="rect">
            <a:avLst/>
          </a:prstGeom>
          <a:noFill/>
        </p:spPr>
        <p:txBody>
          <a:bodyPr wrap="square" lIns="36576" rIns="36576" tIns="25603" bIns="18288" anchor="t"/>
          <a:lstStyle/>
          <a:p>
            <a:pPr algn="l">
              <a:spcBef>
                <a:spcPts val="0"/>
              </a:spcBef>
              <a:spcAft>
                <a:spcPts val="0"/>
              </a:spcAft>
            </a:pPr>
            <a:r>
              <a:rPr sz="1600" b="1" i="0">
                <a:solidFill>
                  <a:srgbClr val="C47E12"/>
                </a:solidFill>
                <a:latin typeface="Calibri"/>
                <a:ea typeface="Calibri"/>
                <a:cs typeface="Calibri"/>
              </a:rPr>
              <a:t>4</a:t>
            </a:r>
          </a:p>
        </p:txBody>
      </p:sp>
      <p:sp>
        <p:nvSpPr>
          <p:cNvPr id="24" name="TextBox 23"/>
          <p:cNvSpPr txBox="1"/>
          <p:nvPr/>
        </p:nvSpPr>
        <p:spPr>
          <a:xfrm>
            <a:off x="9381744" y="1554480"/>
            <a:ext cx="2423160" cy="411480"/>
          </a:xfrm>
          <a:prstGeom prst="rect">
            <a:avLst/>
          </a:prstGeom>
          <a:noFill/>
        </p:spPr>
        <p:txBody>
          <a:bodyPr wrap="square" lIns="36576" rIns="36576" tIns="25603" bIns="18288" anchor="t"/>
          <a:lstStyle/>
          <a:p>
            <a:pPr algn="l">
              <a:spcBef>
                <a:spcPts val="0"/>
              </a:spcBef>
              <a:spcAft>
                <a:spcPts val="0"/>
              </a:spcAft>
            </a:pPr>
            <a:r>
              <a:rPr sz="1600" b="1" i="0">
                <a:solidFill>
                  <a:srgbClr val="0E2744"/>
                </a:solidFill>
                <a:latin typeface="Calibri"/>
                <a:ea typeface="Calibri"/>
                <a:cs typeface="Calibri"/>
              </a:rPr>
              <a:t>Ba bộ lọc</a:t>
            </a:r>
          </a:p>
        </p:txBody>
      </p:sp>
      <p:sp>
        <p:nvSpPr>
          <p:cNvPr id="25" name="TextBox 24"/>
          <p:cNvSpPr txBox="1"/>
          <p:nvPr/>
        </p:nvSpPr>
        <p:spPr>
          <a:xfrm>
            <a:off x="9381744" y="1965960"/>
            <a:ext cx="2423160" cy="457200"/>
          </a:xfrm>
          <a:prstGeom prst="rect">
            <a:avLst/>
          </a:prstGeom>
          <a:noFill/>
        </p:spPr>
        <p:txBody>
          <a:bodyPr wrap="square" lIns="36576" rIns="36576" tIns="25603" bIns="18288" anchor="t"/>
          <a:lstStyle/>
          <a:p>
            <a:pPr algn="l">
              <a:spcBef>
                <a:spcPts val="0"/>
              </a:spcBef>
              <a:spcAft>
                <a:spcPts val="0"/>
              </a:spcAft>
            </a:pPr>
            <a:r>
              <a:rPr sz="1300" b="0" i="0">
                <a:solidFill>
                  <a:srgbClr val="5A6570"/>
                </a:solidFill>
                <a:latin typeface="Calibri"/>
                <a:ea typeface="Calibri"/>
                <a:cs typeface="Calibri"/>
              </a:rPr>
              <a:t>detector · CRS · Purify</a:t>
            </a:r>
          </a:p>
        </p:txBody>
      </p:sp>
      <p:graphicFrame>
        <p:nvGraphicFramePr>
          <p:cNvPr id="26" name="Table 25"/>
          <p:cNvGraphicFramePr>
            <a:graphicFrameLocks noGrp="1"/>
          </p:cNvGraphicFramePr>
          <p:nvPr/>
        </p:nvGraphicFramePr>
        <p:xfrm>
          <a:off x="411480" y="2834640"/>
          <a:ext cx="11338558" cy="2148840"/>
        </p:xfrm>
        <a:graphic>
          <a:graphicData uri="http://schemas.openxmlformats.org/drawingml/2006/table">
            <a:tbl>
              <a:tblPr firstRow="1" bandRow="1">
                <a:tableStyleId>{5C22544A-7EE6-4342-B048-85BDC9FD1C3A}</a:tableStyleId>
              </a:tblPr>
              <a:tblGrid>
                <a:gridCol w="2377440"/>
                <a:gridCol w="3108959"/>
                <a:gridCol w="3108959"/>
                <a:gridCol w="2743200"/>
              </a:tblGrid>
              <a:tr h="429768">
                <a:tc>
                  <a:txBody>
                    <a:bodyPr wrap="square"/>
                    <a:lstStyle/>
                    <a:p>
                      <a:pPr algn="l">
                        <a:spcBef>
                          <a:spcPts val="0"/>
                        </a:spcBef>
                        <a:spcAft>
                          <a:spcPts val="0"/>
                        </a:spcAft>
                      </a:pPr>
                      <a:r>
                        <a:rPr sz="1300" b="1" i="0">
                          <a:solidFill>
                            <a:srgbClr val="FFFFFF"/>
                          </a:solidFill>
                          <a:latin typeface="Calibri"/>
                          <a:ea typeface="Calibri"/>
                          <a:cs typeface="Calibri"/>
                        </a:rPr>
                        <a:t>Bộ lọc</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Mẫu đưa vào</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Chỉ số thành công</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Kết quả lab</a:t>
                      </a:r>
                    </a:p>
                  </a:txBody>
                  <a:tcPr anchor="ctr">
                    <a:solidFill>
                      <a:srgbClr val="0E2744"/>
                    </a:solidFill>
                  </a:tcPr>
                </a:tc>
              </a:tr>
              <a:tr h="429768">
                <a:tc>
                  <a:txBody>
                    <a:bodyPr wrap="square"/>
                    <a:lstStyle/>
                    <a:p>
                      <a:pPr algn="l">
                        <a:spcBef>
                          <a:spcPts val="0"/>
                        </a:spcBef>
                        <a:spcAft>
                          <a:spcPts val="0"/>
                        </a:spcAft>
                      </a:pPr>
                      <a:r>
                        <a:rPr sz="1300" b="1" i="0">
                          <a:solidFill>
                            <a:srgbClr val="1A1F26"/>
                          </a:solidFill>
                          <a:latin typeface="Calibri"/>
                          <a:ea typeface="Calibri"/>
                          <a:cs typeface="Calibri"/>
                        </a:rPr>
                        <a:t>Detector DL (nhánh A)</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PPO 250k, data/10</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ER = độc bị gọi lành</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~99%  — do OOV/None</a:t>
                      </a:r>
                    </a:p>
                  </a:txBody>
                  <a:tcPr anchor="ctr">
                    <a:solidFill>
                      <a:srgbClr val="FFFFFF"/>
                    </a:solidFill>
                  </a:tcPr>
                </a:tc>
              </a:tr>
              <a:tr h="429768">
                <a:tc>
                  <a:txBody>
                    <a:bodyPr wrap="square"/>
                    <a:lstStyle/>
                    <a:p>
                      <a:pPr algn="l">
                        <a:spcBef>
                          <a:spcPts val="0"/>
                        </a:spcBef>
                        <a:spcAft>
                          <a:spcPts val="0"/>
                        </a:spcAft>
                      </a:pPr>
                      <a:r>
                        <a:rPr sz="1300" b="1" i="0">
                          <a:solidFill>
                            <a:srgbClr val="1A1F26"/>
                          </a:solidFill>
                          <a:latin typeface="Calibri"/>
                          <a:ea typeface="Calibri"/>
                          <a:cs typeface="Calibri"/>
                        </a:rPr>
                        <a:t>Detector DL (nhánh B)</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cùng 27 action, vocab cố định</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ER / TASR (JS chạy)</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0,75% → 0,25%</a:t>
                      </a:r>
                    </a:p>
                  </a:txBody>
                  <a:tcPr anchor="ctr">
                    <a:solidFill>
                      <a:srgbClr val="EEF2F6"/>
                    </a:solidFill>
                  </a:tcPr>
                </a:tc>
              </a:tr>
              <a:tr h="429768">
                <a:tc>
                  <a:txBody>
                    <a:bodyPr wrap="square"/>
                    <a:lstStyle/>
                    <a:p>
                      <a:pPr algn="l">
                        <a:spcBef>
                          <a:spcPts val="0"/>
                        </a:spcBef>
                        <a:spcAft>
                          <a:spcPts val="0"/>
                        </a:spcAft>
                      </a:pPr>
                      <a:r>
                        <a:rPr sz="1300" b="1" i="0">
                          <a:solidFill>
                            <a:srgbClr val="1A1F26"/>
                          </a:solidFill>
                          <a:latin typeface="Calibri"/>
                          <a:ea typeface="Calibri"/>
                          <a:cs typeface="Calibri"/>
                        </a:rPr>
                        <a:t>OWASP CRS 4 PL1/PL2</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catalog + mẫu PPO transfer</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TASR = 200 VÀ execute</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FFFFFF"/>
                    </a:solidFill>
                  </a:tcPr>
                </a:tc>
              </a:tr>
              <a:tr h="429768">
                <a:tc>
                  <a:txBody>
                    <a:bodyPr wrap="square"/>
                    <a:lstStyle/>
                    <a:p>
                      <a:pPr algn="l">
                        <a:spcBef>
                          <a:spcPts val="0"/>
                        </a:spcBef>
                        <a:spcAft>
                          <a:spcPts val="0"/>
                        </a:spcAft>
                      </a:pPr>
                      <a:r>
                        <a:rPr sz="1300" b="1" i="0">
                          <a:solidFill>
                            <a:srgbClr val="1A1F26"/>
                          </a:solidFill>
                          <a:latin typeface="Calibri"/>
                          <a:ea typeface="Calibri"/>
                          <a:cs typeface="Calibri"/>
                        </a:rPr>
                        <a:t>DOMPurify</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84 mẫu Table 2</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TASR ;  Δ = Escape − TASR</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TASR 0  ·  Δ = 1</a:t>
                      </a:r>
                    </a:p>
                  </a:txBody>
                  <a:tcPr anchor="ctr">
                    <a:solidFill>
                      <a:srgbClr val="EEF2F6"/>
                    </a:solidFill>
                  </a:tcPr>
                </a:tc>
              </a:tr>
            </a:tbl>
          </a:graphicData>
        </a:graphic>
      </p:graphicFrame>
      <p:sp>
        <p:nvSpPr>
          <p:cNvPr id="27" name="TextBox 26"/>
          <p:cNvSpPr txBox="1"/>
          <p:nvPr/>
        </p:nvSpPr>
        <p:spPr>
          <a:xfrm>
            <a:off x="411480" y="5120640"/>
            <a:ext cx="11338560" cy="640080"/>
          </a:xfrm>
          <a:prstGeom prst="rect">
            <a:avLst/>
          </a:prstGeom>
          <a:noFill/>
        </p:spPr>
        <p:txBody>
          <a:bodyPr wrap="square" lIns="36576" rIns="36576" tIns="25603" bIns="18288" anchor="t"/>
          <a:lstStyle/>
          <a:p>
            <a:pPr algn="l">
              <a:spcBef>
                <a:spcPts val="0"/>
              </a:spcBef>
              <a:spcAft>
                <a:spcPts val="0"/>
              </a:spcAft>
            </a:pPr>
            <a:r>
              <a:rPr sz="1500" b="0" i="0">
                <a:solidFill>
                  <a:srgbClr val="0E2744"/>
                </a:solidFill>
                <a:latin typeface="Calibri"/>
                <a:ea typeface="Calibri"/>
                <a:cs typeface="Calibri"/>
              </a:rPr>
              <a:t>TASR mới được viết là tấn công thành công trên bộ lọc web.  HTTP 200 một mình = Escape, không tính.  Không train RL trên CRS: catalog chưa có primitive BYPASS_EXEC.</a:t>
            </a:r>
          </a:p>
        </p:txBody>
      </p:sp>
      <p:sp>
        <p:nvSpPr>
          <p:cNvPr id="28" name="Rectangle 27"/>
          <p:cNvSpPr/>
          <p:nvPr/>
        </p:nvSpPr>
        <p:spPr>
          <a:xfrm>
            <a:off x="0" y="6565392"/>
            <a:ext cx="12191695" cy="29260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6565392"/>
            <a:ext cx="8686800" cy="292608"/>
          </a:xfrm>
          <a:prstGeom prst="rect">
            <a:avLst/>
          </a:prstGeom>
          <a:noFill/>
        </p:spPr>
        <p:txBody>
          <a:bodyPr wrap="square" lIns="36576" rIns="36576" tIns="25603" bIns="18288" anchor="ctr"/>
          <a:lstStyle/>
          <a:p>
            <a:pPr algn="l">
              <a:spcBef>
                <a:spcPts val="0"/>
              </a:spcBef>
              <a:spcAft>
                <a:spcPts val="0"/>
              </a:spcAft>
            </a:pPr>
            <a:r>
              <a:rPr sz="1100" b="0" i="0">
                <a:solidFill>
                  <a:srgbClr val="FFFFFF"/>
                </a:solidFill>
                <a:latin typeface="Calibri"/>
                <a:ea typeface="Calibri"/>
                <a:cs typeface="Calibri"/>
              </a:rPr>
              <a:t>ATBMHTTT  ·  Không trộn nhánh A (~99%) với nhánh B (~1%)  ·  TASR = HTTP 200 VÀ JS chạy</a:t>
            </a:r>
          </a:p>
        </p:txBody>
      </p:sp>
      <p:sp>
        <p:nvSpPr>
          <p:cNvPr id="30" name="TextBox 29"/>
          <p:cNvSpPr txBox="1"/>
          <p:nvPr/>
        </p:nvSpPr>
        <p:spPr>
          <a:xfrm>
            <a:off x="10515600" y="6565392"/>
            <a:ext cx="1371600" cy="292608"/>
          </a:xfrm>
          <a:prstGeom prst="rect">
            <a:avLst/>
          </a:prstGeom>
          <a:noFill/>
        </p:spPr>
        <p:txBody>
          <a:bodyPr wrap="square" lIns="36576" rIns="36576" tIns="25603" bIns="18288" anchor="ctr"/>
          <a:lstStyle/>
          <a:p>
            <a:pPr algn="r">
              <a:spcBef>
                <a:spcPts val="0"/>
              </a:spcBef>
              <a:spcAft>
                <a:spcPts val="0"/>
              </a:spcAft>
            </a:pPr>
            <a:r>
              <a:rPr sz="1100" b="0" i="0">
                <a:solidFill>
                  <a:srgbClr val="FFFFFF"/>
                </a:solidFill>
                <a:latin typeface="Calibri"/>
                <a:ea typeface="Calibri"/>
                <a:cs typeface="Calibri"/>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47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6304"/>
            <a:ext cx="11338560" cy="256032"/>
          </a:xfrm>
          <a:prstGeom prst="rect">
            <a:avLst/>
          </a:prstGeom>
          <a:noFill/>
        </p:spPr>
        <p:txBody>
          <a:bodyPr wrap="square" lIns="36576" rIns="36576" tIns="25603" bIns="18288" anchor="ctr"/>
          <a:lstStyle/>
          <a:p>
            <a:pPr algn="l">
              <a:spcBef>
                <a:spcPts val="0"/>
              </a:spcBef>
              <a:spcAft>
                <a:spcPts val="0"/>
              </a:spcAft>
            </a:pPr>
            <a:r>
              <a:rPr sz="1100" b="0" i="0">
                <a:solidFill>
                  <a:srgbClr val="C47E12"/>
                </a:solidFill>
                <a:latin typeface="Calibri"/>
                <a:ea typeface="Calibri"/>
                <a:cs typeface="Calibri"/>
              </a:rPr>
              <a:t>PASINI 2026  ·  PDF V2</a:t>
            </a:r>
          </a:p>
        </p:txBody>
      </p:sp>
      <p:sp>
        <p:nvSpPr>
          <p:cNvPr id="6" name="TextBox 5"/>
          <p:cNvSpPr txBox="1"/>
          <p:nvPr/>
        </p:nvSpPr>
        <p:spPr>
          <a:xfrm>
            <a:off x="411480" y="384048"/>
            <a:ext cx="11338560" cy="475488"/>
          </a:xfrm>
          <a:prstGeom prst="rect">
            <a:avLst/>
          </a:prstGeom>
          <a:noFill/>
        </p:spPr>
        <p:txBody>
          <a:bodyPr wrap="square" lIns="36576" rIns="36576" tIns="25603" bIns="18288" anchor="ctr"/>
          <a:lstStyle/>
          <a:p>
            <a:pPr algn="l">
              <a:spcBef>
                <a:spcPts val="0"/>
              </a:spcBef>
              <a:spcAft>
                <a:spcPts val="0"/>
              </a:spcAft>
            </a:pPr>
            <a:r>
              <a:rPr sz="2600" b="1" i="0">
                <a:solidFill>
                  <a:srgbClr val="FFFFFF"/>
                </a:solidFill>
                <a:latin typeface="Calibri"/>
                <a:ea typeface="Calibri"/>
                <a:cs typeface="Calibri"/>
              </a:rPr>
              <a:t>Ba RQ — TH2 là thủ phạm, không phải mutation</a:t>
            </a:r>
          </a:p>
        </p:txBody>
      </p:sp>
      <p:sp>
        <p:nvSpPr>
          <p:cNvPr id="7" name="Rounded Rectangle 6"/>
          <p:cNvSpPr/>
          <p:nvPr/>
        </p:nvSpPr>
        <p:spPr>
          <a:xfrm>
            <a:off x="411480" y="1170432"/>
            <a:ext cx="3675887" cy="3246120"/>
          </a:xfrm>
          <a:prstGeom prst="roundRect">
            <a:avLst>
              <a:gd name="adj" fmla="val 6000"/>
            </a:avLst>
          </a:prstGeom>
          <a:solidFill>
            <a:srgbClr val="FFFFFF"/>
          </a:solidFill>
          <a:ln w="12700">
            <a:solidFill>
              <a:srgbClr val="D4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170432"/>
            <a:ext cx="3675887" cy="10972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371600"/>
            <a:ext cx="3383280" cy="292608"/>
          </a:xfrm>
          <a:prstGeom prst="rect">
            <a:avLst/>
          </a:prstGeom>
          <a:noFill/>
        </p:spPr>
        <p:txBody>
          <a:bodyPr wrap="square" lIns="36576" rIns="36576" tIns="25603" bIns="18288" anchor="t"/>
          <a:lstStyle/>
          <a:p>
            <a:pPr algn="l">
              <a:spcBef>
                <a:spcPts val="0"/>
              </a:spcBef>
              <a:spcAft>
                <a:spcPts val="0"/>
              </a:spcAft>
            </a:pPr>
            <a:r>
              <a:rPr sz="1300" b="1" i="0">
                <a:solidFill>
                  <a:srgbClr val="0E2744"/>
                </a:solidFill>
                <a:latin typeface="Calibri"/>
                <a:ea typeface="Calibri"/>
                <a:cs typeface="Calibri"/>
              </a:rPr>
              <a:t>RQ1  /  TH1</a:t>
            </a:r>
          </a:p>
        </p:txBody>
      </p:sp>
      <p:sp>
        <p:nvSpPr>
          <p:cNvPr id="10" name="TextBox 9"/>
          <p:cNvSpPr txBox="1"/>
          <p:nvPr/>
        </p:nvSpPr>
        <p:spPr>
          <a:xfrm>
            <a:off x="576072" y="1719072"/>
            <a:ext cx="3383280" cy="640080"/>
          </a:xfrm>
          <a:prstGeom prst="rect">
            <a:avLst/>
          </a:prstGeom>
          <a:noFill/>
        </p:spPr>
        <p:txBody>
          <a:bodyPr wrap="square" lIns="36576" rIns="36576" tIns="25603" bIns="18288" anchor="t"/>
          <a:lstStyle/>
          <a:p>
            <a:pPr algn="l">
              <a:spcBef>
                <a:spcPts val="0"/>
              </a:spcBef>
              <a:spcAft>
                <a:spcPts val="0"/>
              </a:spcAft>
            </a:pPr>
            <a:r>
              <a:rPr sz="1800" b="1" i="0">
                <a:solidFill>
                  <a:srgbClr val="0E2744"/>
                </a:solidFill>
                <a:latin typeface="Calibri"/>
                <a:ea typeface="Calibri"/>
                <a:cs typeface="Calibri"/>
              </a:rPr>
              <a:t>Mutation có phá XSS?</a:t>
            </a:r>
          </a:p>
        </p:txBody>
      </p:sp>
      <p:sp>
        <p:nvSpPr>
          <p:cNvPr id="11" name="TextBox 10"/>
          <p:cNvSpPr txBox="1"/>
          <p:nvPr/>
        </p:nvSpPr>
        <p:spPr>
          <a:xfrm>
            <a:off x="576072" y="2395728"/>
            <a:ext cx="3383280" cy="502920"/>
          </a:xfrm>
          <a:prstGeom prst="rect">
            <a:avLst/>
          </a:prstGeom>
          <a:noFill/>
        </p:spPr>
        <p:txBody>
          <a:bodyPr wrap="square" lIns="36576" rIns="36576" tIns="25603" bIns="18288" anchor="t"/>
          <a:lstStyle/>
          <a:p>
            <a:pPr algn="l">
              <a:spcBef>
                <a:spcPts val="0"/>
              </a:spcBef>
              <a:spcAft>
                <a:spcPts val="0"/>
              </a:spcAft>
            </a:pPr>
            <a:r>
              <a:rPr sz="2600" b="1" i="0">
                <a:solidFill>
                  <a:srgbClr val="0E2744"/>
                </a:solidFill>
                <a:latin typeface="Calibri"/>
                <a:ea typeface="Calibri"/>
                <a:cs typeface="Calibri"/>
              </a:rPr>
              <a:t>RR(E) ≈ 6–7%</a:t>
            </a:r>
          </a:p>
        </p:txBody>
      </p:sp>
      <p:sp>
        <p:nvSpPr>
          <p:cNvPr id="12" name="TextBox 11"/>
          <p:cNvSpPr txBox="1"/>
          <p:nvPr/>
        </p:nvSpPr>
        <p:spPr>
          <a:xfrm>
            <a:off x="576072" y="3017520"/>
            <a:ext cx="3383280" cy="1188720"/>
          </a:xfrm>
          <a:prstGeom prst="rect">
            <a:avLst/>
          </a:prstGeom>
          <a:noFill/>
        </p:spPr>
        <p:txBody>
          <a:bodyPr wrap="square" lIns="54864" rIns="54864" tIns="38404" bIns="27432"/>
          <a:lstStyle/>
          <a:p>
            <a:pPr algn="l">
              <a:spcBef>
                <a:spcPts val="0"/>
              </a:spcBef>
              <a:spcAft>
                <a:spcPts val="0"/>
              </a:spcAft>
            </a:pPr>
            <a:r>
              <a:rPr sz="1400" b="0" i="0">
                <a:solidFill>
                  <a:srgbClr val="5A6570"/>
                </a:solidFill>
                <a:latin typeface="Calibri"/>
                <a:ea typeface="Calibri"/>
                <a:cs typeface="Calibri"/>
              </a:rPr>
              <a:t>Tập E = mẫu đã lọt detector.</a:t>
            </a:r>
          </a:p>
          <a:p>
            <a:pPr algn="l">
              <a:spcBef>
                <a:spcPts val="400"/>
              </a:spcBef>
              <a:spcAft>
                <a:spcPts val="0"/>
              </a:spcAft>
            </a:pPr>
            <a:r>
              <a:rPr sz="1400" b="0" i="0">
                <a:solidFill>
                  <a:srgbClr val="5A6570"/>
                </a:solidFill>
                <a:latin typeface="Calibri"/>
                <a:ea typeface="Calibri"/>
                <a:cs typeface="Calibri"/>
              </a:rPr>
              <a:t>Paper: hầu hết vẫn độc trên DOM.</a:t>
            </a:r>
          </a:p>
        </p:txBody>
      </p:sp>
      <p:sp>
        <p:nvSpPr>
          <p:cNvPr id="13" name="Rounded Rectangle 12"/>
          <p:cNvSpPr/>
          <p:nvPr/>
        </p:nvSpPr>
        <p:spPr>
          <a:xfrm>
            <a:off x="4270248" y="1170432"/>
            <a:ext cx="3675887" cy="3246120"/>
          </a:xfrm>
          <a:prstGeom prst="roundRect">
            <a:avLst>
              <a:gd name="adj" fmla="val 6000"/>
            </a:avLst>
          </a:prstGeom>
          <a:solidFill>
            <a:srgbClr val="FFFFFF"/>
          </a:solidFill>
          <a:ln w="12700">
            <a:solidFill>
              <a:srgbClr val="D4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0248" y="1170432"/>
            <a:ext cx="3675887" cy="109728"/>
          </a:xfrm>
          <a:prstGeom prst="rect">
            <a:avLst/>
          </a:prstGeom>
          <a:solidFill>
            <a:srgbClr val="8A4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1371600"/>
            <a:ext cx="3383280" cy="292608"/>
          </a:xfrm>
          <a:prstGeom prst="rect">
            <a:avLst/>
          </a:prstGeom>
          <a:noFill/>
        </p:spPr>
        <p:txBody>
          <a:bodyPr wrap="square" lIns="36576" rIns="36576" tIns="25603" bIns="18288" anchor="t"/>
          <a:lstStyle/>
          <a:p>
            <a:pPr algn="l">
              <a:spcBef>
                <a:spcPts val="0"/>
              </a:spcBef>
              <a:spcAft>
                <a:spcPts val="0"/>
              </a:spcAft>
            </a:pPr>
            <a:r>
              <a:rPr sz="1300" b="1" i="0">
                <a:solidFill>
                  <a:srgbClr val="8A4B12"/>
                </a:solidFill>
                <a:latin typeface="Calibri"/>
                <a:ea typeface="Calibri"/>
                <a:cs typeface="Calibri"/>
              </a:rPr>
              <a:t>RQ2  /  TH2</a:t>
            </a:r>
          </a:p>
        </p:txBody>
      </p:sp>
      <p:sp>
        <p:nvSpPr>
          <p:cNvPr id="16" name="TextBox 15"/>
          <p:cNvSpPr txBox="1"/>
          <p:nvPr/>
        </p:nvSpPr>
        <p:spPr>
          <a:xfrm>
            <a:off x="4434840" y="1719072"/>
            <a:ext cx="3383280" cy="640080"/>
          </a:xfrm>
          <a:prstGeom prst="rect">
            <a:avLst/>
          </a:prstGeom>
          <a:noFill/>
        </p:spPr>
        <p:txBody>
          <a:bodyPr wrap="square" lIns="36576" rIns="36576" tIns="25603" bIns="18288" anchor="t"/>
          <a:lstStyle/>
          <a:p>
            <a:pPr algn="l">
              <a:spcBef>
                <a:spcPts val="0"/>
              </a:spcBef>
              <a:spcAft>
                <a:spcPts val="0"/>
              </a:spcAft>
            </a:pPr>
            <a:r>
              <a:rPr sz="1800" b="1" i="0">
                <a:solidFill>
                  <a:srgbClr val="0E2744"/>
                </a:solidFill>
                <a:latin typeface="Calibri"/>
                <a:ea typeface="Calibri"/>
                <a:cs typeface="Calibri"/>
              </a:rPr>
              <a:t>Preprocess / OOV phá XSS?</a:t>
            </a:r>
          </a:p>
        </p:txBody>
      </p:sp>
      <p:sp>
        <p:nvSpPr>
          <p:cNvPr id="17" name="TextBox 16"/>
          <p:cNvSpPr txBox="1"/>
          <p:nvPr/>
        </p:nvSpPr>
        <p:spPr>
          <a:xfrm>
            <a:off x="4434840" y="2395728"/>
            <a:ext cx="3383280" cy="502920"/>
          </a:xfrm>
          <a:prstGeom prst="rect">
            <a:avLst/>
          </a:prstGeom>
          <a:noFill/>
        </p:spPr>
        <p:txBody>
          <a:bodyPr wrap="square" lIns="36576" rIns="36576" tIns="25603" bIns="18288" anchor="t"/>
          <a:lstStyle/>
          <a:p>
            <a:pPr algn="l">
              <a:spcBef>
                <a:spcPts val="0"/>
              </a:spcBef>
              <a:spcAft>
                <a:spcPts val="0"/>
              </a:spcAft>
            </a:pPr>
            <a:r>
              <a:rPr sz="2600" b="1" i="0">
                <a:solidFill>
                  <a:srgbClr val="8A4B12"/>
                </a:solidFill>
                <a:latin typeface="Calibri"/>
                <a:ea typeface="Calibri"/>
                <a:cs typeface="Calibri"/>
              </a:rPr>
              <a:t>RR(V) ≈ 93–98%</a:t>
            </a:r>
          </a:p>
        </p:txBody>
      </p:sp>
      <p:sp>
        <p:nvSpPr>
          <p:cNvPr id="18" name="TextBox 17"/>
          <p:cNvSpPr txBox="1"/>
          <p:nvPr/>
        </p:nvSpPr>
        <p:spPr>
          <a:xfrm>
            <a:off x="4434840" y="3017520"/>
            <a:ext cx="3383280" cy="1188720"/>
          </a:xfrm>
          <a:prstGeom prst="rect">
            <a:avLst/>
          </a:prstGeom>
          <a:noFill/>
        </p:spPr>
        <p:txBody>
          <a:bodyPr wrap="square" lIns="54864" rIns="54864" tIns="38404" bIns="27432"/>
          <a:lstStyle/>
          <a:p>
            <a:pPr algn="l">
              <a:spcBef>
                <a:spcPts val="0"/>
              </a:spcBef>
              <a:spcAft>
                <a:spcPts val="0"/>
              </a:spcAft>
            </a:pPr>
            <a:r>
              <a:rPr sz="1400" b="0" i="0">
                <a:solidFill>
                  <a:srgbClr val="5A6570"/>
                </a:solidFill>
                <a:latin typeface="Calibri"/>
                <a:ea typeface="Calibri"/>
                <a:cs typeface="Calibri"/>
              </a:rPr>
              <a:t>V = E sau tokenize, OOV → None.</a:t>
            </a:r>
          </a:p>
          <a:p>
            <a:pPr algn="l">
              <a:spcBef>
                <a:spcPts val="400"/>
              </a:spcBef>
              <a:spcAft>
                <a:spcPts val="0"/>
              </a:spcAft>
            </a:pPr>
            <a:r>
              <a:rPr sz="1400" b="0" i="0">
                <a:solidFill>
                  <a:srgbClr val="5A6570"/>
                </a:solidFill>
                <a:latin typeface="Calibri"/>
                <a:ea typeface="Calibri"/>
                <a:cs typeface="Calibri"/>
              </a:rPr>
              <a:t>OR(V) ≈ 44–48% token None.</a:t>
            </a:r>
          </a:p>
        </p:txBody>
      </p:sp>
      <p:sp>
        <p:nvSpPr>
          <p:cNvPr id="19" name="Rounded Rectangle 18"/>
          <p:cNvSpPr/>
          <p:nvPr/>
        </p:nvSpPr>
        <p:spPr>
          <a:xfrm>
            <a:off x="8129015" y="1170432"/>
            <a:ext cx="3675887" cy="3246120"/>
          </a:xfrm>
          <a:prstGeom prst="roundRect">
            <a:avLst>
              <a:gd name="adj" fmla="val 6000"/>
            </a:avLst>
          </a:prstGeom>
          <a:solidFill>
            <a:srgbClr val="FFFFFF"/>
          </a:solidFill>
          <a:ln w="12700">
            <a:solidFill>
              <a:srgbClr val="D4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29015" y="1170432"/>
            <a:ext cx="3675887" cy="109728"/>
          </a:xfrm>
          <a:prstGeom prst="rect">
            <a:avLst/>
          </a:prstGeom>
          <a:solidFill>
            <a:srgbClr val="1F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3607" y="1371600"/>
            <a:ext cx="3383280" cy="292608"/>
          </a:xfrm>
          <a:prstGeom prst="rect">
            <a:avLst/>
          </a:prstGeom>
          <a:noFill/>
        </p:spPr>
        <p:txBody>
          <a:bodyPr wrap="square" lIns="36576" rIns="36576" tIns="25603" bIns="18288" anchor="t"/>
          <a:lstStyle/>
          <a:p>
            <a:pPr algn="l">
              <a:spcBef>
                <a:spcPts val="0"/>
              </a:spcBef>
              <a:spcAft>
                <a:spcPts val="0"/>
              </a:spcAft>
            </a:pPr>
            <a:r>
              <a:rPr sz="1300" b="1" i="0">
                <a:solidFill>
                  <a:srgbClr val="1F6B4A"/>
                </a:solidFill>
                <a:latin typeface="Calibri"/>
                <a:ea typeface="Calibri"/>
                <a:cs typeface="Calibri"/>
              </a:rPr>
              <a:t>RQ3</a:t>
            </a:r>
          </a:p>
        </p:txBody>
      </p:sp>
      <p:sp>
        <p:nvSpPr>
          <p:cNvPr id="22" name="TextBox 21"/>
          <p:cNvSpPr txBox="1"/>
          <p:nvPr/>
        </p:nvSpPr>
        <p:spPr>
          <a:xfrm>
            <a:off x="8293607" y="1719072"/>
            <a:ext cx="3383280" cy="640080"/>
          </a:xfrm>
          <a:prstGeom prst="rect">
            <a:avLst/>
          </a:prstGeom>
          <a:noFill/>
        </p:spPr>
        <p:txBody>
          <a:bodyPr wrap="square" lIns="36576" rIns="36576" tIns="25603" bIns="18288" anchor="t"/>
          <a:lstStyle/>
          <a:p>
            <a:pPr algn="l">
              <a:spcBef>
                <a:spcPts val="0"/>
              </a:spcBef>
              <a:spcAft>
                <a:spcPts val="0"/>
              </a:spcAft>
            </a:pPr>
            <a:r>
              <a:rPr sz="1800" b="1" i="0">
                <a:solidFill>
                  <a:srgbClr val="0E2744"/>
                </a:solidFill>
                <a:latin typeface="Calibri"/>
                <a:ea typeface="Calibri"/>
                <a:cs typeface="Calibri"/>
              </a:rPr>
              <a:t>Oracle vào reward thì sao?</a:t>
            </a:r>
          </a:p>
        </p:txBody>
      </p:sp>
      <p:sp>
        <p:nvSpPr>
          <p:cNvPr id="23" name="TextBox 22"/>
          <p:cNvSpPr txBox="1"/>
          <p:nvPr/>
        </p:nvSpPr>
        <p:spPr>
          <a:xfrm>
            <a:off x="8293607" y="2395728"/>
            <a:ext cx="3383280" cy="502920"/>
          </a:xfrm>
          <a:prstGeom prst="rect">
            <a:avLst/>
          </a:prstGeom>
          <a:noFill/>
        </p:spPr>
        <p:txBody>
          <a:bodyPr wrap="square" lIns="36576" rIns="36576" tIns="25603" bIns="18288" anchor="t"/>
          <a:lstStyle/>
          <a:p>
            <a:pPr algn="l">
              <a:spcBef>
                <a:spcPts val="0"/>
              </a:spcBef>
              <a:spcAft>
                <a:spcPts val="0"/>
              </a:spcAft>
            </a:pPr>
            <a:r>
              <a:rPr sz="2600" b="1" i="0">
                <a:solidFill>
                  <a:srgbClr val="1F6B4A"/>
                </a:solidFill>
                <a:latin typeface="Calibri"/>
                <a:ea typeface="Calibri"/>
                <a:cs typeface="Calibri"/>
              </a:rPr>
              <a:t>ER vẫn &gt; 96%</a:t>
            </a:r>
          </a:p>
        </p:txBody>
      </p:sp>
      <p:sp>
        <p:nvSpPr>
          <p:cNvPr id="24" name="TextBox 23"/>
          <p:cNvSpPr txBox="1"/>
          <p:nvPr/>
        </p:nvSpPr>
        <p:spPr>
          <a:xfrm>
            <a:off x="8293607" y="3017520"/>
            <a:ext cx="3383280" cy="1188720"/>
          </a:xfrm>
          <a:prstGeom prst="rect">
            <a:avLst/>
          </a:prstGeom>
          <a:noFill/>
        </p:spPr>
        <p:txBody>
          <a:bodyPr wrap="square" lIns="54864" rIns="54864" tIns="38404" bIns="27432"/>
          <a:lstStyle/>
          <a:p>
            <a:pPr algn="l">
              <a:spcBef>
                <a:spcPts val="0"/>
              </a:spcBef>
              <a:spcAft>
                <a:spcPts val="0"/>
              </a:spcAft>
            </a:pPr>
            <a:r>
              <a:rPr sz="1400" b="0" i="0">
                <a:solidFill>
                  <a:srgbClr val="5A6570"/>
                </a:solidFill>
                <a:latin typeface="Calibri"/>
                <a:ea typeface="Calibri"/>
                <a:cs typeface="Calibri"/>
              </a:rPr>
              <a:t>RR ≈ 0 theo Oracle DOM.</a:t>
            </a:r>
          </a:p>
          <a:p>
            <a:pPr algn="l">
              <a:spcBef>
                <a:spcPts val="400"/>
              </a:spcBef>
              <a:spcAft>
                <a:spcPts val="0"/>
              </a:spcAft>
            </a:pPr>
            <a:r>
              <a:rPr sz="1400" b="0" i="0">
                <a:solidFill>
                  <a:srgbClr val="5A6570"/>
                </a:solidFill>
                <a:latin typeface="Calibri"/>
                <a:ea typeface="Calibri"/>
                <a:cs typeface="Calibri"/>
              </a:rPr>
              <a:t>ER cao không có nghĩa JS còn chạy.</a:t>
            </a:r>
          </a:p>
        </p:txBody>
      </p:sp>
      <p:sp>
        <p:nvSpPr>
          <p:cNvPr id="25" name="Rounded Rectangle 24"/>
          <p:cNvSpPr/>
          <p:nvPr/>
        </p:nvSpPr>
        <p:spPr>
          <a:xfrm>
            <a:off x="411480" y="4617720"/>
            <a:ext cx="11338560" cy="1691640"/>
          </a:xfrm>
          <a:prstGeom prst="roundRect">
            <a:avLst>
              <a:gd name="adj" fmla="val 6000"/>
            </a:avLst>
          </a:prstGeom>
          <a:solidFill>
            <a:srgbClr val="FFFFFF"/>
          </a:solidFill>
          <a:ln w="12700">
            <a:solidFill>
              <a:srgbClr val="D4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709160"/>
            <a:ext cx="11064240" cy="1554480"/>
          </a:xfrm>
          <a:prstGeom prst="rect">
            <a:avLst/>
          </a:prstGeom>
          <a:noFill/>
        </p:spPr>
        <p:txBody>
          <a:bodyPr wrap="square" lIns="54864" rIns="54864" tIns="38404" bIns="27432"/>
          <a:lstStyle/>
          <a:p>
            <a:pPr algn="l">
              <a:spcBef>
                <a:spcPts val="0"/>
              </a:spcBef>
              <a:spcAft>
                <a:spcPts val="0"/>
              </a:spcAft>
            </a:pPr>
            <a:r>
              <a:rPr sz="1500" b="1" i="0">
                <a:solidFill>
                  <a:srgbClr val="0E2744"/>
                </a:solidFill>
                <a:latin typeface="Calibri"/>
                <a:ea typeface="Calibri"/>
                <a:cs typeface="Calibri"/>
              </a:rPr>
              <a:t>Công thức (thuộc 4 dòng này)</a:t>
            </a:r>
          </a:p>
          <a:p>
            <a:pPr algn="l">
              <a:spcBef>
                <a:spcPts val="400"/>
              </a:spcBef>
              <a:spcAft>
                <a:spcPts val="0"/>
              </a:spcAft>
            </a:pPr>
            <a:r>
              <a:rPr sz="1500" b="0" i="0">
                <a:solidFill>
                  <a:srgbClr val="1A1F26"/>
                </a:solidFill>
                <a:latin typeface="Calibri"/>
                <a:ea typeface="Calibri"/>
                <a:cs typeface="Calibri"/>
              </a:rPr>
              <a:t>ER = (# độc detector gọi lành) / |adversarial|     ·     O(p)=1 nếu Oracle = còn độc</a:t>
            </a:r>
          </a:p>
          <a:p>
            <a:pPr algn="l">
              <a:spcBef>
                <a:spcPts val="400"/>
              </a:spcBef>
              <a:spcAft>
                <a:spcPts val="0"/>
              </a:spcAft>
            </a:pPr>
            <a:r>
              <a:rPr sz="1500" b="0" i="0">
                <a:solidFill>
                  <a:srgbClr val="1A1F26"/>
                </a:solidFill>
                <a:latin typeface="Calibri"/>
                <a:ea typeface="Calibri"/>
                <a:cs typeface="Calibri"/>
              </a:rPr>
              <a:t>RR(M) = 1 − trung bình O trên tập M     ·     OR(V) = (# token None) / |V|</a:t>
            </a:r>
          </a:p>
          <a:p>
            <a:pPr algn="l">
              <a:spcBef>
                <a:spcPts val="400"/>
              </a:spcBef>
              <a:spcAft>
                <a:spcPts val="0"/>
              </a:spcAft>
            </a:pPr>
            <a:r>
              <a:rPr sz="1500" b="0" i="0">
                <a:solidFill>
                  <a:srgbClr val="1A1F26"/>
                </a:solidFill>
                <a:latin typeface="Calibri"/>
                <a:ea typeface="Calibri"/>
                <a:cs typeface="Calibri"/>
              </a:rPr>
              <a:t>TASR = (# BYPASS_EXEC) / N     ·     Δ = Escape − TASR</a:t>
            </a:r>
          </a:p>
        </p:txBody>
      </p:sp>
      <p:sp>
        <p:nvSpPr>
          <p:cNvPr id="27" name="Rectangle 26"/>
          <p:cNvSpPr/>
          <p:nvPr/>
        </p:nvSpPr>
        <p:spPr>
          <a:xfrm>
            <a:off x="0" y="6565392"/>
            <a:ext cx="12191695" cy="29260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565392"/>
            <a:ext cx="8686800" cy="292608"/>
          </a:xfrm>
          <a:prstGeom prst="rect">
            <a:avLst/>
          </a:prstGeom>
          <a:noFill/>
        </p:spPr>
        <p:txBody>
          <a:bodyPr wrap="square" lIns="36576" rIns="36576" tIns="25603" bIns="18288" anchor="ctr"/>
          <a:lstStyle/>
          <a:p>
            <a:pPr algn="l">
              <a:spcBef>
                <a:spcPts val="0"/>
              </a:spcBef>
              <a:spcAft>
                <a:spcPts val="0"/>
              </a:spcAft>
            </a:pPr>
            <a:r>
              <a:rPr sz="1100" b="0" i="0">
                <a:solidFill>
                  <a:srgbClr val="FFFFFF"/>
                </a:solidFill>
                <a:latin typeface="Calibri"/>
                <a:ea typeface="Calibri"/>
                <a:cs typeface="Calibri"/>
              </a:rPr>
              <a:t>ATBMHTTT  ·  Không trộn nhánh A (~99%) với nhánh B (~1%)  ·  TASR = HTTP 200 VÀ JS chạy</a:t>
            </a:r>
          </a:p>
        </p:txBody>
      </p:sp>
      <p:sp>
        <p:nvSpPr>
          <p:cNvPr id="29" name="TextBox 28"/>
          <p:cNvSpPr txBox="1"/>
          <p:nvPr/>
        </p:nvSpPr>
        <p:spPr>
          <a:xfrm>
            <a:off x="10515600" y="6565392"/>
            <a:ext cx="1371600" cy="292608"/>
          </a:xfrm>
          <a:prstGeom prst="rect">
            <a:avLst/>
          </a:prstGeom>
          <a:noFill/>
        </p:spPr>
        <p:txBody>
          <a:bodyPr wrap="square" lIns="36576" rIns="36576" tIns="25603" bIns="18288" anchor="ctr"/>
          <a:lstStyle/>
          <a:p>
            <a:pPr algn="r">
              <a:spcBef>
                <a:spcPts val="0"/>
              </a:spcBef>
              <a:spcAft>
                <a:spcPts val="0"/>
              </a:spcAft>
            </a:pPr>
            <a:r>
              <a:rPr sz="1100" b="0" i="0">
                <a:solidFill>
                  <a:srgbClr val="FFFFFF"/>
                </a:solidFill>
                <a:latin typeface="Calibri"/>
                <a:ea typeface="Calibri"/>
                <a:cs typeface="Calibri"/>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47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6304"/>
            <a:ext cx="11338560" cy="256032"/>
          </a:xfrm>
          <a:prstGeom prst="rect">
            <a:avLst/>
          </a:prstGeom>
          <a:noFill/>
        </p:spPr>
        <p:txBody>
          <a:bodyPr wrap="square" lIns="36576" rIns="36576" tIns="25603" bIns="18288" anchor="ctr"/>
          <a:lstStyle/>
          <a:p>
            <a:pPr algn="l">
              <a:spcBef>
                <a:spcPts val="0"/>
              </a:spcBef>
              <a:spcAft>
                <a:spcPts val="0"/>
              </a:spcAft>
            </a:pPr>
            <a:r>
              <a:rPr sz="1100" b="0" i="0">
                <a:solidFill>
                  <a:srgbClr val="C47E12"/>
                </a:solidFill>
                <a:latin typeface="Calibri"/>
                <a:ea typeface="Calibri"/>
                <a:cs typeface="Calibri"/>
              </a:rPr>
              <a:t>PHƯƠNG PHÁP</a:t>
            </a:r>
          </a:p>
        </p:txBody>
      </p:sp>
      <p:sp>
        <p:nvSpPr>
          <p:cNvPr id="6" name="TextBox 5"/>
          <p:cNvSpPr txBox="1"/>
          <p:nvPr/>
        </p:nvSpPr>
        <p:spPr>
          <a:xfrm>
            <a:off x="411480" y="384048"/>
            <a:ext cx="11338560" cy="475488"/>
          </a:xfrm>
          <a:prstGeom prst="rect">
            <a:avLst/>
          </a:prstGeom>
          <a:noFill/>
        </p:spPr>
        <p:txBody>
          <a:bodyPr wrap="square" lIns="36576" rIns="36576" tIns="25603" bIns="18288" anchor="ctr"/>
          <a:lstStyle/>
          <a:p>
            <a:pPr algn="l">
              <a:spcBef>
                <a:spcPts val="0"/>
              </a:spcBef>
              <a:spcAft>
                <a:spcPts val="0"/>
              </a:spcAft>
            </a:pPr>
            <a:r>
              <a:rPr sz="2600" b="1" i="0">
                <a:solidFill>
                  <a:srgbClr val="FFFFFF"/>
                </a:solidFill>
                <a:latin typeface="Calibri"/>
                <a:ea typeface="Calibri"/>
                <a:cs typeface="Calibri"/>
              </a:rPr>
              <a:t>Hai nhánh, cùng 27 action — không trộn số</a:t>
            </a:r>
          </a:p>
        </p:txBody>
      </p:sp>
      <p:graphicFrame>
        <p:nvGraphicFramePr>
          <p:cNvPr id="7" name="Table 6"/>
          <p:cNvGraphicFramePr>
            <a:graphicFrameLocks noGrp="1"/>
          </p:cNvGraphicFramePr>
          <p:nvPr/>
        </p:nvGraphicFramePr>
        <p:xfrm>
          <a:off x="411480" y="1143000"/>
          <a:ext cx="11338560" cy="3246120"/>
        </p:xfrm>
        <a:graphic>
          <a:graphicData uri="http://schemas.openxmlformats.org/drawingml/2006/table">
            <a:tbl>
              <a:tblPr firstRow="1" bandRow="1">
                <a:tableStyleId>{5C22544A-7EE6-4342-B048-85BDC9FD1C3A}</a:tableStyleId>
              </a:tblPr>
              <a:tblGrid>
                <a:gridCol w="1645920"/>
                <a:gridCol w="3017520"/>
                <a:gridCol w="3200400"/>
                <a:gridCol w="3474720"/>
              </a:tblGrid>
              <a:tr h="463731">
                <a:tc>
                  <a:txBody>
                    <a:bodyPr wrap="square"/>
                    <a:lstStyle/>
                    <a:p>
                      <a:pPr algn="l">
                        <a:spcBef>
                          <a:spcPts val="0"/>
                        </a:spcBef>
                        <a:spcAft>
                          <a:spcPts val="0"/>
                        </a:spcAft>
                      </a:pPr>
                      <a:r>
                        <a:rPr sz="1200" b="1" i="0">
                          <a:solidFill>
                            <a:srgbClr val="FFFFFF"/>
                          </a:solidFill>
                          <a:latin typeface="Calibri"/>
                          <a:ea typeface="Calibri"/>
                          <a:cs typeface="Calibri"/>
                        </a:rPr>
                        <a:t/>
                      </a:r>
                    </a:p>
                  </a:txBody>
                  <a:tcPr anchor="ctr">
                    <a:solidFill>
                      <a:srgbClr val="0E2744"/>
                    </a:solidFill>
                  </a:tcPr>
                </a:tc>
                <a:tc>
                  <a:txBody>
                    <a:bodyPr wrap="square"/>
                    <a:lstStyle/>
                    <a:p>
                      <a:pPr algn="ctr">
                        <a:spcBef>
                          <a:spcPts val="0"/>
                        </a:spcBef>
                        <a:spcAft>
                          <a:spcPts val="0"/>
                        </a:spcAft>
                      </a:pPr>
                      <a:r>
                        <a:rPr sz="1200" b="1" i="0">
                          <a:solidFill>
                            <a:srgbClr val="FFFFFF"/>
                          </a:solidFill>
                          <a:latin typeface="Calibri"/>
                          <a:ea typeface="Calibri"/>
                          <a:cs typeface="Calibri"/>
                        </a:rPr>
                        <a:t>Chen 2022</a:t>
                      </a:r>
                    </a:p>
                  </a:txBody>
                  <a:tcPr anchor="ctr">
                    <a:solidFill>
                      <a:srgbClr val="0E2744"/>
                    </a:solidFill>
                  </a:tcPr>
                </a:tc>
                <a:tc>
                  <a:txBody>
                    <a:bodyPr wrap="square"/>
                    <a:lstStyle/>
                    <a:p>
                      <a:pPr algn="ctr">
                        <a:spcBef>
                          <a:spcPts val="0"/>
                        </a:spcBef>
                        <a:spcAft>
                          <a:spcPts val="0"/>
                        </a:spcAft>
                      </a:pPr>
                      <a:r>
                        <a:rPr sz="1200" b="1" i="0">
                          <a:solidFill>
                            <a:srgbClr val="FFFFFF"/>
                          </a:solidFill>
                          <a:latin typeface="Calibri"/>
                          <a:ea typeface="Calibri"/>
                          <a:cs typeface="Calibri"/>
                        </a:rPr>
                        <a:t>Pasini 2026</a:t>
                      </a:r>
                    </a:p>
                  </a:txBody>
                  <a:tcPr anchor="ctr">
                    <a:solidFill>
                      <a:srgbClr val="0E2744"/>
                    </a:solidFill>
                  </a:tcPr>
                </a:tc>
                <a:tc>
                  <a:txBody>
                    <a:bodyPr wrap="square"/>
                    <a:lstStyle/>
                    <a:p>
                      <a:pPr algn="ctr">
                        <a:spcBef>
                          <a:spcPts val="0"/>
                        </a:spcBef>
                        <a:spcAft>
                          <a:spcPts val="0"/>
                        </a:spcAft>
                      </a:pPr>
                      <a:r>
                        <a:rPr sz="1200" b="1" i="0">
                          <a:solidFill>
                            <a:srgbClr val="FFFFFF"/>
                          </a:solidFill>
                          <a:latin typeface="Calibri"/>
                          <a:ea typeface="Calibri"/>
                          <a:cs typeface="Calibri"/>
                        </a:rPr>
                        <a:t>Đồ án</a:t>
                      </a:r>
                    </a:p>
                  </a:txBody>
                  <a:tcPr anchor="ctr">
                    <a:solidFill>
                      <a:srgbClr val="0E2744"/>
                    </a:solidFill>
                  </a:tcPr>
                </a:tc>
              </a:tr>
              <a:tr h="463731">
                <a:tc>
                  <a:txBody>
                    <a:bodyPr wrap="square"/>
                    <a:lstStyle/>
                    <a:p>
                      <a:pPr algn="l">
                        <a:spcBef>
                          <a:spcPts val="0"/>
                        </a:spcBef>
                        <a:spcAft>
                          <a:spcPts val="0"/>
                        </a:spcAft>
                      </a:pPr>
                      <a:r>
                        <a:rPr sz="1200" b="1" i="0">
                          <a:solidFill>
                            <a:srgbClr val="1A1F26"/>
                          </a:solidFill>
                          <a:latin typeface="Calibri"/>
                          <a:ea typeface="Calibri"/>
                          <a:cs typeface="Calibri"/>
                        </a:rPr>
                        <a:t>Dataset</a:t>
                      </a:r>
                    </a:p>
                  </a:txBody>
                  <a:tcPr anchor="ctr">
                    <a:solidFill>
                      <a:srgbClr val="FFFFFF"/>
                    </a:solidFill>
                  </a:tcPr>
                </a:tc>
                <a:tc>
                  <a:txBody>
                    <a:bodyPr wrap="square"/>
                    <a:lstStyle/>
                    <a:p>
                      <a:pPr algn="ctr">
                        <a:spcBef>
                          <a:spcPts val="0"/>
                        </a:spcBef>
                        <a:spcAft>
                          <a:spcPts val="0"/>
                        </a:spcAft>
                      </a:pPr>
                      <a:r>
                        <a:rPr sz="1200" b="0" i="0">
                          <a:solidFill>
                            <a:srgbClr val="1A1F26"/>
                          </a:solidFill>
                          <a:latin typeface="Calibri"/>
                          <a:ea typeface="Calibri"/>
                          <a:cs typeface="Calibri"/>
                        </a:rPr>
                        <a:t>XSSed+Alexa ~90k (không public)</a:t>
                      </a:r>
                    </a:p>
                  </a:txBody>
                  <a:tcPr anchor="ctr">
                    <a:solidFill>
                      <a:srgbClr val="FFFFFF"/>
                    </a:solidFill>
                  </a:tcPr>
                </a:tc>
                <a:tc>
                  <a:txBody>
                    <a:bodyPr wrap="square"/>
                    <a:lstStyle/>
                    <a:p>
                      <a:pPr algn="ctr">
                        <a:spcBef>
                          <a:spcPts val="0"/>
                        </a:spcBef>
                        <a:spcAft>
                          <a:spcPts val="0"/>
                        </a:spcAft>
                      </a:pPr>
                      <a:r>
                        <a:rPr sz="1200" b="0" i="0">
                          <a:solidFill>
                            <a:srgbClr val="1A1F26"/>
                          </a:solidFill>
                          <a:latin typeface="Calibri"/>
                          <a:ea typeface="Calibri"/>
                          <a:cs typeface="Calibri"/>
                        </a:rPr>
                        <a:t>Mereani, Oracle DOM, data/10</a:t>
                      </a:r>
                    </a:p>
                  </a:txBody>
                  <a:tcPr anchor="ctr">
                    <a:solidFill>
                      <a:srgbClr val="FFFFFF"/>
                    </a:solidFill>
                  </a:tcPr>
                </a:tc>
                <a:tc>
                  <a:txBody>
                    <a:bodyPr wrap="square"/>
                    <a:lstStyle/>
                    <a:p>
                      <a:pPr algn="ctr">
                        <a:spcBef>
                          <a:spcPts val="0"/>
                        </a:spcBef>
                        <a:spcAft>
                          <a:spcPts val="0"/>
                        </a:spcAft>
                      </a:pPr>
                      <a:r>
                        <a:rPr sz="1200" b="0" i="0">
                          <a:solidFill>
                            <a:srgbClr val="1A1F26"/>
                          </a:solidFill>
                          <a:latin typeface="Calibri"/>
                          <a:ea typeface="Calibri"/>
                          <a:cs typeface="Calibri"/>
                        </a:rPr>
                        <a:t>A: data/10   B: Mereani lọc JSDOM</a:t>
                      </a:r>
                    </a:p>
                  </a:txBody>
                  <a:tcPr anchor="ctr">
                    <a:solidFill>
                      <a:srgbClr val="FFFFFF"/>
                    </a:solidFill>
                  </a:tcPr>
                </a:tc>
              </a:tr>
              <a:tr h="463731">
                <a:tc>
                  <a:txBody>
                    <a:bodyPr wrap="square"/>
                    <a:lstStyle/>
                    <a:p>
                      <a:pPr algn="l">
                        <a:spcBef>
                          <a:spcPts val="0"/>
                        </a:spcBef>
                        <a:spcAft>
                          <a:spcPts val="0"/>
                        </a:spcAft>
                      </a:pPr>
                      <a:r>
                        <a:rPr sz="1200" b="1" i="0">
                          <a:solidFill>
                            <a:srgbClr val="1A1F26"/>
                          </a:solidFill>
                          <a:latin typeface="Calibri"/>
                          <a:ea typeface="Calibri"/>
                          <a:cs typeface="Calibri"/>
                        </a:rPr>
                        <a:t>Agent</a:t>
                      </a:r>
                    </a:p>
                  </a:txBody>
                  <a:tcPr anchor="ctr">
                    <a:solidFill>
                      <a:srgbClr val="EEF2F6"/>
                    </a:solidFill>
                  </a:tcPr>
                </a:tc>
                <a:tc>
                  <a:txBody>
                    <a:bodyPr wrap="square"/>
                    <a:lstStyle/>
                    <a:p>
                      <a:pPr algn="ctr">
                        <a:spcBef>
                          <a:spcPts val="0"/>
                        </a:spcBef>
                        <a:spcAft>
                          <a:spcPts val="0"/>
                        </a:spcAft>
                      </a:pPr>
                      <a:r>
                        <a:rPr sz="1200" b="0" i="0">
                          <a:solidFill>
                            <a:srgbClr val="1A1F26"/>
                          </a:solidFill>
                          <a:latin typeface="Calibri"/>
                          <a:ea typeface="Calibri"/>
                          <a:cs typeface="Calibri"/>
                        </a:rPr>
                        <a:t>SAC</a:t>
                      </a:r>
                    </a:p>
                  </a:txBody>
                  <a:tcPr anchor="ctr">
                    <a:solidFill>
                      <a:srgbClr val="EEF2F6"/>
                    </a:solidFill>
                  </a:tcPr>
                </a:tc>
                <a:tc>
                  <a:txBody>
                    <a:bodyPr wrap="square"/>
                    <a:lstStyle/>
                    <a:p>
                      <a:pPr algn="ctr">
                        <a:spcBef>
                          <a:spcPts val="0"/>
                        </a:spcBef>
                        <a:spcAft>
                          <a:spcPts val="0"/>
                        </a:spcAft>
                      </a:pPr>
                      <a:r>
                        <a:rPr sz="1200" b="0" i="0">
                          <a:solidFill>
                            <a:srgbClr val="1A1F26"/>
                          </a:solidFill>
                          <a:latin typeface="Calibri"/>
                          <a:ea typeface="Calibri"/>
                          <a:cs typeface="Calibri"/>
                        </a:rPr>
                        <a:t>PPO (SB3)</a:t>
                      </a:r>
                    </a:p>
                  </a:txBody>
                  <a:tcPr anchor="ctr">
                    <a:solidFill>
                      <a:srgbClr val="EEF2F6"/>
                    </a:solidFill>
                  </a:tcPr>
                </a:tc>
                <a:tc>
                  <a:txBody>
                    <a:bodyPr wrap="square"/>
                    <a:lstStyle/>
                    <a:p>
                      <a:pPr algn="ctr">
                        <a:spcBef>
                          <a:spcPts val="0"/>
                        </a:spcBef>
                        <a:spcAft>
                          <a:spcPts val="0"/>
                        </a:spcAft>
                      </a:pPr>
                      <a:r>
                        <a:rPr sz="1200" b="0" i="0">
                          <a:solidFill>
                            <a:srgbClr val="1A1F26"/>
                          </a:solidFill>
                          <a:latin typeface="Calibri"/>
                          <a:ea typeface="Calibri"/>
                          <a:cs typeface="Calibri"/>
                        </a:rPr>
                        <a:t>PPO; P4 thêm Dueling DQN</a:t>
                      </a:r>
                    </a:p>
                  </a:txBody>
                  <a:tcPr anchor="ctr">
                    <a:solidFill>
                      <a:srgbClr val="EEF2F6"/>
                    </a:solidFill>
                  </a:tcPr>
                </a:tc>
              </a:tr>
              <a:tr h="463731">
                <a:tc>
                  <a:txBody>
                    <a:bodyPr wrap="square"/>
                    <a:lstStyle/>
                    <a:p>
                      <a:pPr algn="l">
                        <a:spcBef>
                          <a:spcPts val="0"/>
                        </a:spcBef>
                        <a:spcAft>
                          <a:spcPts val="0"/>
                        </a:spcAft>
                      </a:pPr>
                      <a:r>
                        <a:rPr sz="1200" b="1" i="0">
                          <a:solidFill>
                            <a:srgbClr val="1A1F26"/>
                          </a:solidFill>
                          <a:latin typeface="Calibri"/>
                          <a:ea typeface="Calibri"/>
                          <a:cs typeface="Calibri"/>
                        </a:rPr>
                        <a:t>Oracle</a:t>
                      </a:r>
                    </a:p>
                  </a:txBody>
                  <a:tcPr anchor="ctr">
                    <a:solidFill>
                      <a:srgbClr val="FFFFFF"/>
                    </a:solidFill>
                  </a:tcPr>
                </a:tc>
                <a:tc>
                  <a:txBody>
                    <a:bodyPr wrap="square"/>
                    <a:lstStyle/>
                    <a:p>
                      <a:pPr algn="ctr">
                        <a:spcBef>
                          <a:spcPts val="0"/>
                        </a:spcBef>
                        <a:spcAft>
                          <a:spcPts val="0"/>
                        </a:spcAft>
                      </a:pPr>
                      <a:r>
                        <a:rPr sz="1200" b="0" i="0">
                          <a:solidFill>
                            <a:srgbClr val="1A1F26"/>
                          </a:solidFill>
                          <a:latin typeface="Calibri"/>
                          <a:ea typeface="Calibri"/>
                          <a:cs typeface="Calibri"/>
                        </a:rPr>
                        <a:t>không</a:t>
                      </a:r>
                    </a:p>
                  </a:txBody>
                  <a:tcPr anchor="ctr">
                    <a:solidFill>
                      <a:srgbClr val="FFFFFF"/>
                    </a:solidFill>
                  </a:tcPr>
                </a:tc>
                <a:tc>
                  <a:txBody>
                    <a:bodyPr wrap="square"/>
                    <a:lstStyle/>
                    <a:p>
                      <a:pPr algn="ctr">
                        <a:spcBef>
                          <a:spcPts val="0"/>
                        </a:spcBef>
                        <a:spcAft>
                          <a:spcPts val="0"/>
                        </a:spcAft>
                      </a:pPr>
                      <a:r>
                        <a:rPr sz="1200" b="0" i="0">
                          <a:solidFill>
                            <a:srgbClr val="1A1F26"/>
                          </a:solidFill>
                          <a:latin typeface="Calibri"/>
                          <a:ea typeface="Calibri"/>
                          <a:cs typeface="Calibri"/>
                        </a:rPr>
                        <a:t>DOM-diff vs "abc"</a:t>
                      </a:r>
                    </a:p>
                  </a:txBody>
                  <a:tcPr anchor="ctr">
                    <a:solidFill>
                      <a:srgbClr val="FFFFFF"/>
                    </a:solidFill>
                  </a:tcPr>
                </a:tc>
                <a:tc>
                  <a:txBody>
                    <a:bodyPr wrap="square"/>
                    <a:lstStyle/>
                    <a:p>
                      <a:pPr algn="ctr">
                        <a:spcBef>
                          <a:spcPts val="0"/>
                        </a:spcBef>
                        <a:spcAft>
                          <a:spcPts val="0"/>
                        </a:spcAft>
                      </a:pPr>
                      <a:r>
                        <a:rPr sz="1200" b="0" i="0">
                          <a:solidFill>
                            <a:srgbClr val="1A1F26"/>
                          </a:solidFill>
                          <a:latin typeface="Calibri"/>
                          <a:ea typeface="Calibri"/>
                          <a:cs typeface="Calibri"/>
                        </a:rPr>
                        <a:t>A: DOM   B: JSDOM + Playwright</a:t>
                      </a:r>
                    </a:p>
                  </a:txBody>
                  <a:tcPr anchor="ctr">
                    <a:solidFill>
                      <a:srgbClr val="FFFFFF"/>
                    </a:solidFill>
                  </a:tcPr>
                </a:tc>
              </a:tr>
              <a:tr h="463731">
                <a:tc>
                  <a:txBody>
                    <a:bodyPr wrap="square"/>
                    <a:lstStyle/>
                    <a:p>
                      <a:pPr algn="l">
                        <a:spcBef>
                          <a:spcPts val="0"/>
                        </a:spcBef>
                        <a:spcAft>
                          <a:spcPts val="0"/>
                        </a:spcAft>
                      </a:pPr>
                      <a:r>
                        <a:rPr sz="1200" b="1" i="0">
                          <a:solidFill>
                            <a:srgbClr val="1A1F26"/>
                          </a:solidFill>
                          <a:latin typeface="Calibri"/>
                          <a:ea typeface="Calibri"/>
                          <a:cs typeface="Calibri"/>
                        </a:rPr>
                        <a:t>Encode</a:t>
                      </a:r>
                    </a:p>
                  </a:txBody>
                  <a:tcPr anchor="ctr">
                    <a:solidFill>
                      <a:srgbClr val="EEF2F6"/>
                    </a:solidFill>
                  </a:tcPr>
                </a:tc>
                <a:tc>
                  <a:txBody>
                    <a:bodyPr wrap="square"/>
                    <a:lstStyle/>
                    <a:p>
                      <a:pPr algn="ctr">
                        <a:spcBef>
                          <a:spcPts val="0"/>
                        </a:spcBef>
                        <a:spcAft>
                          <a:spcPts val="0"/>
                        </a:spcAft>
                      </a:pPr>
                      <a:r>
                        <a:rPr sz="1200" b="0" i="0">
                          <a:solidFill>
                            <a:srgbClr val="1A1F26"/>
                          </a:solidFill>
                          <a:latin typeface="Calibri"/>
                          <a:ea typeface="Calibri"/>
                          <a:cs typeface="Calibri"/>
                        </a:rPr>
                        <a:t>Word2Vec / token</a:t>
                      </a:r>
                    </a:p>
                  </a:txBody>
                  <a:tcPr anchor="ctr">
                    <a:solidFill>
                      <a:srgbClr val="EEF2F6"/>
                    </a:solidFill>
                  </a:tcPr>
                </a:tc>
                <a:tc>
                  <a:txBody>
                    <a:bodyPr wrap="square"/>
                    <a:lstStyle/>
                    <a:p>
                      <a:pPr algn="ctr">
                        <a:spcBef>
                          <a:spcPts val="0"/>
                        </a:spcBef>
                        <a:spcAft>
                          <a:spcPts val="0"/>
                        </a:spcAft>
                      </a:pPr>
                      <a:r>
                        <a:rPr sz="1200" b="0" i="0">
                          <a:solidFill>
                            <a:srgbClr val="1A1F26"/>
                          </a:solidFill>
                          <a:latin typeface="Calibri"/>
                          <a:ea typeface="Calibri"/>
                          <a:cs typeface="Calibri"/>
                        </a:rPr>
                        <a:t>LabelEncoder từng mẫu</a:t>
                      </a:r>
                    </a:p>
                  </a:txBody>
                  <a:tcPr anchor="ctr">
                    <a:solidFill>
                      <a:srgbClr val="EEF2F6"/>
                    </a:solidFill>
                  </a:tcPr>
                </a:tc>
                <a:tc>
                  <a:txBody>
                    <a:bodyPr wrap="square"/>
                    <a:lstStyle/>
                    <a:p>
                      <a:pPr algn="ctr">
                        <a:spcBef>
                          <a:spcPts val="0"/>
                        </a:spcBef>
                        <a:spcAft>
                          <a:spcPts val="0"/>
                        </a:spcAft>
                      </a:pPr>
                      <a:r>
                        <a:rPr sz="1200" b="0" i="0">
                          <a:solidFill>
                            <a:srgbClr val="1A1F26"/>
                          </a:solidFill>
                          <a:latin typeface="Calibri"/>
                          <a:ea typeface="Calibri"/>
                          <a:cs typeface="Calibri"/>
                        </a:rPr>
                        <a:t>A: giữ bug   B: vocab cố định</a:t>
                      </a:r>
                    </a:p>
                  </a:txBody>
                  <a:tcPr anchor="ctr">
                    <a:solidFill>
                      <a:srgbClr val="EEF2F6"/>
                    </a:solidFill>
                  </a:tcPr>
                </a:tc>
              </a:tr>
              <a:tr h="463731">
                <a:tc>
                  <a:txBody>
                    <a:bodyPr wrap="square"/>
                    <a:lstStyle/>
                    <a:p>
                      <a:pPr algn="l">
                        <a:spcBef>
                          <a:spcPts val="0"/>
                        </a:spcBef>
                        <a:spcAft>
                          <a:spcPts val="0"/>
                        </a:spcAft>
                      </a:pPr>
                      <a:r>
                        <a:rPr sz="1200" b="1" i="0">
                          <a:solidFill>
                            <a:srgbClr val="1A1F26"/>
                          </a:solidFill>
                          <a:latin typeface="Calibri"/>
                          <a:ea typeface="Calibri"/>
                          <a:cs typeface="Calibri"/>
                        </a:rPr>
                        <a:t>Bộ lọc web</a:t>
                      </a:r>
                    </a:p>
                  </a:txBody>
                  <a:tcPr anchor="ctr">
                    <a:solidFill>
                      <a:srgbClr val="FFFFFF"/>
                    </a:solidFill>
                  </a:tcPr>
                </a:tc>
                <a:tc>
                  <a:txBody>
                    <a:bodyPr wrap="square"/>
                    <a:lstStyle/>
                    <a:p>
                      <a:pPr algn="ctr">
                        <a:spcBef>
                          <a:spcPts val="0"/>
                        </a:spcBef>
                        <a:spcAft>
                          <a:spcPts val="0"/>
                        </a:spcAft>
                      </a:pPr>
                      <a:r>
                        <a:rPr sz="1200" b="0" i="0">
                          <a:solidFill>
                            <a:srgbClr val="1A1F26"/>
                          </a:solidFill>
                          <a:latin typeface="Calibri"/>
                          <a:ea typeface="Calibri"/>
                          <a:cs typeface="Calibri"/>
                        </a:rPr>
                        <a:t>SafeDog / XSSChop</a:t>
                      </a:r>
                    </a:p>
                  </a:txBody>
                  <a:tcPr anchor="ctr">
                    <a:solidFill>
                      <a:srgbClr val="FFFFFF"/>
                    </a:solidFill>
                  </a:tcPr>
                </a:tc>
                <a:tc>
                  <a:txBody>
                    <a:bodyPr wrap="square"/>
                    <a:lstStyle/>
                    <a:p>
                      <a:pPr algn="ctr">
                        <a:spcBef>
                          <a:spcPts val="0"/>
                        </a:spcBef>
                        <a:spcAft>
                          <a:spcPts val="0"/>
                        </a:spcAft>
                      </a:pPr>
                      <a:r>
                        <a:rPr sz="1200" b="0" i="0">
                          <a:solidFill>
                            <a:srgbClr val="1A1F26"/>
                          </a:solidFill>
                          <a:latin typeface="Calibri"/>
                          <a:ea typeface="Calibri"/>
                          <a:cs typeface="Calibri"/>
                        </a:rPr>
                        <a:t>không</a:t>
                      </a:r>
                    </a:p>
                  </a:txBody>
                  <a:tcPr anchor="ctr">
                    <a:solidFill>
                      <a:srgbClr val="FFFFFF"/>
                    </a:solidFill>
                  </a:tcPr>
                </a:tc>
                <a:tc>
                  <a:txBody>
                    <a:bodyPr wrap="square"/>
                    <a:lstStyle/>
                    <a:p>
                      <a:pPr algn="ctr">
                        <a:spcBef>
                          <a:spcPts val="0"/>
                        </a:spcBef>
                        <a:spcAft>
                          <a:spcPts val="0"/>
                        </a:spcAft>
                      </a:pPr>
                      <a:r>
                        <a:rPr sz="1200" b="0" i="0">
                          <a:solidFill>
                            <a:srgbClr val="1A1F26"/>
                          </a:solidFill>
                          <a:latin typeface="Calibri"/>
                          <a:ea typeface="Calibri"/>
                          <a:cs typeface="Calibri"/>
                        </a:rPr>
                        <a:t>CRS 4 PL1/PL2 + DOMPurify</a:t>
                      </a:r>
                    </a:p>
                  </a:txBody>
                  <a:tcPr anchor="ctr">
                    <a:solidFill>
                      <a:srgbClr val="FFFFFF"/>
                    </a:solidFill>
                  </a:tcPr>
                </a:tc>
              </a:tr>
              <a:tr h="463734">
                <a:tc>
                  <a:txBody>
                    <a:bodyPr wrap="square"/>
                    <a:lstStyle/>
                    <a:p>
                      <a:pPr algn="l">
                        <a:spcBef>
                          <a:spcPts val="0"/>
                        </a:spcBef>
                        <a:spcAft>
                          <a:spcPts val="0"/>
                        </a:spcAft>
                      </a:pPr>
                      <a:r>
                        <a:rPr sz="1200" b="1" i="0">
                          <a:solidFill>
                            <a:srgbClr val="1A1F26"/>
                          </a:solidFill>
                          <a:latin typeface="Calibri"/>
                          <a:ea typeface="Calibri"/>
                          <a:cs typeface="Calibri"/>
                        </a:rPr>
                        <a:t>Chỉ số</a:t>
                      </a:r>
                    </a:p>
                  </a:txBody>
                  <a:tcPr anchor="ctr">
                    <a:solidFill>
                      <a:srgbClr val="EEF2F6"/>
                    </a:solidFill>
                  </a:tcPr>
                </a:tc>
                <a:tc>
                  <a:txBody>
                    <a:bodyPr wrap="square"/>
                    <a:lstStyle/>
                    <a:p>
                      <a:pPr algn="ctr">
                        <a:spcBef>
                          <a:spcPts val="0"/>
                        </a:spcBef>
                        <a:spcAft>
                          <a:spcPts val="0"/>
                        </a:spcAft>
                      </a:pPr>
                      <a:r>
                        <a:rPr sz="1200" b="0" i="0">
                          <a:solidFill>
                            <a:srgbClr val="1A1F26"/>
                          </a:solidFill>
                          <a:latin typeface="Calibri"/>
                          <a:ea typeface="Calibri"/>
                          <a:cs typeface="Calibri"/>
                        </a:rPr>
                        <a:t>ER</a:t>
                      </a:r>
                    </a:p>
                  </a:txBody>
                  <a:tcPr anchor="ctr">
                    <a:solidFill>
                      <a:srgbClr val="EEF2F6"/>
                    </a:solidFill>
                  </a:tcPr>
                </a:tc>
                <a:tc>
                  <a:txBody>
                    <a:bodyPr wrap="square"/>
                    <a:lstStyle/>
                    <a:p>
                      <a:pPr algn="ctr">
                        <a:spcBef>
                          <a:spcPts val="0"/>
                        </a:spcBef>
                        <a:spcAft>
                          <a:spcPts val="0"/>
                        </a:spcAft>
                      </a:pPr>
                      <a:r>
                        <a:rPr sz="1200" b="0" i="0">
                          <a:solidFill>
                            <a:srgbClr val="1A1F26"/>
                          </a:solidFill>
                          <a:latin typeface="Calibri"/>
                          <a:ea typeface="Calibri"/>
                          <a:cs typeface="Calibri"/>
                        </a:rPr>
                        <a:t>ER + RR + OR</a:t>
                      </a:r>
                    </a:p>
                  </a:txBody>
                  <a:tcPr anchor="ctr">
                    <a:solidFill>
                      <a:srgbClr val="EEF2F6"/>
                    </a:solidFill>
                  </a:tcPr>
                </a:tc>
                <a:tc>
                  <a:txBody>
                    <a:bodyPr wrap="square"/>
                    <a:lstStyle/>
                    <a:p>
                      <a:pPr algn="ctr">
                        <a:spcBef>
                          <a:spcPts val="0"/>
                        </a:spcBef>
                        <a:spcAft>
                          <a:spcPts val="0"/>
                        </a:spcAft>
                      </a:pPr>
                      <a:r>
                        <a:rPr sz="1200" b="0" i="0">
                          <a:solidFill>
                            <a:srgbClr val="1A1F26"/>
                          </a:solidFill>
                          <a:latin typeface="Calibri"/>
                          <a:ea typeface="Calibri"/>
                          <a:cs typeface="Calibri"/>
                        </a:rPr>
                        <a:t>A: ER/RR/OR   B: TASR + Δ</a:t>
                      </a:r>
                    </a:p>
                  </a:txBody>
                  <a:tcPr anchor="ctr">
                    <a:solidFill>
                      <a:srgbClr val="EEF2F6"/>
                    </a:solidFill>
                  </a:tcPr>
                </a:tc>
              </a:tr>
            </a:tbl>
          </a:graphicData>
        </a:graphic>
      </p:graphicFrame>
      <p:sp>
        <p:nvSpPr>
          <p:cNvPr id="8" name="Rounded Rectangle 7"/>
          <p:cNvSpPr/>
          <p:nvPr/>
        </p:nvSpPr>
        <p:spPr>
          <a:xfrm>
            <a:off x="411480" y="4572000"/>
            <a:ext cx="5532120" cy="1691640"/>
          </a:xfrm>
          <a:prstGeom prst="roundRect">
            <a:avLst>
              <a:gd name="adj" fmla="val 6000"/>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 rIns="91440" tIns="64007" bIns="45720"/>
          <a:lstStyle/>
          <a:p>
            <a:pPr algn="ctr"/>
            <a:r>
              <a:rPr sz="1100" b="1" i="0">
                <a:solidFill>
                  <a:srgbClr val="E8D7A8"/>
                </a:solidFill>
                <a:latin typeface="Calibri"/>
                <a:ea typeface="Calibri"/>
                <a:cs typeface="Calibri"/>
              </a:rPr>
              <a:t>NHÁNH A  ·  SÁT PAPER</a:t>
            </a:r>
          </a:p>
          <a:p>
            <a:pPr algn="ctr">
              <a:spcBef>
                <a:spcPts val="400"/>
              </a:spcBef>
            </a:pPr>
            <a:r>
              <a:rPr sz="2600" b="1" i="0">
                <a:solidFill>
                  <a:srgbClr val="FFFFFF"/>
                </a:solidFill>
                <a:latin typeface="Calibri"/>
                <a:ea typeface="Calibri"/>
                <a:cs typeface="Calibri"/>
              </a:rPr>
              <a:t>ER ~ 99%</a:t>
            </a:r>
          </a:p>
          <a:p>
            <a:pPr algn="ctr">
              <a:spcBef>
                <a:spcPts val="200"/>
              </a:spcBef>
            </a:pPr>
            <a:r>
              <a:rPr sz="1100" b="0" i="0">
                <a:solidFill>
                  <a:srgbClr val="D0DCE8"/>
                </a:solidFill>
                <a:latin typeface="Calibri"/>
                <a:ea typeface="Calibri"/>
                <a:cs typeface="Calibri"/>
              </a:rPr>
              <a:t>artifact data/10  ·  LabelEncoder từng mẫu  ·  Oracle DOM</a:t>
            </a:r>
          </a:p>
        </p:txBody>
      </p:sp>
      <p:sp>
        <p:nvSpPr>
          <p:cNvPr id="9" name="Rounded Rectangle 8"/>
          <p:cNvSpPr/>
          <p:nvPr/>
        </p:nvSpPr>
        <p:spPr>
          <a:xfrm>
            <a:off x="6172200" y="4572000"/>
            <a:ext cx="5577840" cy="1691640"/>
          </a:xfrm>
          <a:prstGeom prst="roundRect">
            <a:avLst>
              <a:gd name="adj" fmla="val 6000"/>
            </a:avLst>
          </a:prstGeom>
          <a:solidFill>
            <a:srgbClr val="1F6B4A"/>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 rIns="91440" tIns="64007" bIns="45720"/>
          <a:lstStyle/>
          <a:p>
            <a:pPr algn="ctr"/>
            <a:r>
              <a:rPr sz="1100" b="1" i="0">
                <a:solidFill>
                  <a:srgbClr val="E8D7A8"/>
                </a:solidFill>
                <a:latin typeface="Calibri"/>
                <a:ea typeface="Calibri"/>
                <a:cs typeface="Calibri"/>
              </a:rPr>
              <a:t>NHÁNH B  ·  KHÉP TH2</a:t>
            </a:r>
          </a:p>
          <a:p>
            <a:pPr algn="ctr">
              <a:spcBef>
                <a:spcPts val="400"/>
              </a:spcBef>
            </a:pPr>
            <a:r>
              <a:rPr sz="2600" b="1" i="0">
                <a:solidFill>
                  <a:srgbClr val="FFFFFF"/>
                </a:solidFill>
                <a:latin typeface="Calibri"/>
                <a:ea typeface="Calibri"/>
                <a:cs typeface="Calibri"/>
              </a:rPr>
              <a:t>ER ~ 1%</a:t>
            </a:r>
          </a:p>
          <a:p>
            <a:pPr algn="ctr">
              <a:spcBef>
                <a:spcPts val="200"/>
              </a:spcBef>
            </a:pPr>
            <a:r>
              <a:rPr sz="1100" b="0" i="0">
                <a:solidFill>
                  <a:srgbClr val="D0DCE8"/>
                </a:solidFill>
                <a:latin typeface="Calibri"/>
                <a:ea typeface="Calibri"/>
                <a:cs typeface="Calibri"/>
              </a:rPr>
              <a:t>JSDOM execute  ·  token-id cố định  ·  CRS / Purify</a:t>
            </a:r>
          </a:p>
        </p:txBody>
      </p:sp>
      <p:sp>
        <p:nvSpPr>
          <p:cNvPr id="10" name="Rectangle 9"/>
          <p:cNvSpPr/>
          <p:nvPr/>
        </p:nvSpPr>
        <p:spPr>
          <a:xfrm>
            <a:off x="0" y="6565392"/>
            <a:ext cx="12191695" cy="29260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65392"/>
            <a:ext cx="8686800" cy="292608"/>
          </a:xfrm>
          <a:prstGeom prst="rect">
            <a:avLst/>
          </a:prstGeom>
          <a:noFill/>
        </p:spPr>
        <p:txBody>
          <a:bodyPr wrap="square" lIns="36576" rIns="36576" tIns="25603" bIns="18288" anchor="ctr"/>
          <a:lstStyle/>
          <a:p>
            <a:pPr algn="l">
              <a:spcBef>
                <a:spcPts val="0"/>
              </a:spcBef>
              <a:spcAft>
                <a:spcPts val="0"/>
              </a:spcAft>
            </a:pPr>
            <a:r>
              <a:rPr sz="1100" b="0" i="0">
                <a:solidFill>
                  <a:srgbClr val="FFFFFF"/>
                </a:solidFill>
                <a:latin typeface="Calibri"/>
                <a:ea typeface="Calibri"/>
                <a:cs typeface="Calibri"/>
              </a:rPr>
              <a:t>ATBMHTTT  ·  Không trộn nhánh A (~99%) với nhánh B (~1%)  ·  TASR = HTTP 200 VÀ JS chạy</a:t>
            </a:r>
          </a:p>
        </p:txBody>
      </p:sp>
      <p:sp>
        <p:nvSpPr>
          <p:cNvPr id="12" name="TextBox 11"/>
          <p:cNvSpPr txBox="1"/>
          <p:nvPr/>
        </p:nvSpPr>
        <p:spPr>
          <a:xfrm>
            <a:off x="10515600" y="6565392"/>
            <a:ext cx="1371600" cy="292608"/>
          </a:xfrm>
          <a:prstGeom prst="rect">
            <a:avLst/>
          </a:prstGeom>
          <a:noFill/>
        </p:spPr>
        <p:txBody>
          <a:bodyPr wrap="square" lIns="36576" rIns="36576" tIns="25603" bIns="18288" anchor="ctr"/>
          <a:lstStyle/>
          <a:p>
            <a:pPr algn="r">
              <a:spcBef>
                <a:spcPts val="0"/>
              </a:spcBef>
              <a:spcAft>
                <a:spcPts val="0"/>
              </a:spcAft>
            </a:pPr>
            <a:r>
              <a:rPr sz="1100" b="0" i="0">
                <a:solidFill>
                  <a:srgbClr val="FFFFFF"/>
                </a:solidFill>
                <a:latin typeface="Calibri"/>
                <a:ea typeface="Calibri"/>
                <a:cs typeface="Calibri"/>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47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6304"/>
            <a:ext cx="11338560" cy="256032"/>
          </a:xfrm>
          <a:prstGeom prst="rect">
            <a:avLst/>
          </a:prstGeom>
          <a:noFill/>
        </p:spPr>
        <p:txBody>
          <a:bodyPr wrap="square" lIns="36576" rIns="36576" tIns="25603" bIns="18288" anchor="ctr"/>
          <a:lstStyle/>
          <a:p>
            <a:pPr algn="l">
              <a:spcBef>
                <a:spcPts val="0"/>
              </a:spcBef>
              <a:spcAft>
                <a:spcPts val="0"/>
              </a:spcAft>
            </a:pPr>
            <a:r>
              <a:rPr sz="1100" b="0" i="0">
                <a:solidFill>
                  <a:srgbClr val="C47E12"/>
                </a:solidFill>
                <a:latin typeface="Calibri"/>
                <a:ea typeface="Calibri"/>
                <a:cs typeface="Calibri"/>
              </a:rPr>
              <a:t>NHÁNH A  ·  SEED 42  ·  DATA/10</a:t>
            </a:r>
          </a:p>
        </p:txBody>
      </p:sp>
      <p:sp>
        <p:nvSpPr>
          <p:cNvPr id="6" name="TextBox 5"/>
          <p:cNvSpPr txBox="1"/>
          <p:nvPr/>
        </p:nvSpPr>
        <p:spPr>
          <a:xfrm>
            <a:off x="411480" y="384048"/>
            <a:ext cx="11338560" cy="475488"/>
          </a:xfrm>
          <a:prstGeom prst="rect">
            <a:avLst/>
          </a:prstGeom>
          <a:noFill/>
        </p:spPr>
        <p:txBody>
          <a:bodyPr wrap="square" lIns="36576" rIns="36576" tIns="25603" bIns="18288" anchor="ctr"/>
          <a:lstStyle/>
          <a:p>
            <a:pPr algn="l">
              <a:spcBef>
                <a:spcPts val="0"/>
              </a:spcBef>
              <a:spcAft>
                <a:spcPts val="0"/>
              </a:spcAft>
            </a:pPr>
            <a:r>
              <a:rPr sz="2600" b="1" i="0">
                <a:solidFill>
                  <a:srgbClr val="FFFFFF"/>
                </a:solidFill>
                <a:latin typeface="Calibri"/>
                <a:ea typeface="Calibri"/>
                <a:cs typeface="Calibri"/>
              </a:rPr>
              <a:t>Protocol lặp lại được — ER ~99% là TH2</a:t>
            </a:r>
          </a:p>
        </p:txBody>
      </p:sp>
      <p:graphicFrame>
        <p:nvGraphicFramePr>
          <p:cNvPr id="7" name="Table 6"/>
          <p:cNvGraphicFramePr>
            <a:graphicFrameLocks noGrp="1"/>
          </p:cNvGraphicFramePr>
          <p:nvPr/>
        </p:nvGraphicFramePr>
        <p:xfrm>
          <a:off x="411480" y="1115568"/>
          <a:ext cx="5623559" cy="1874519"/>
        </p:xfrm>
        <a:graphic>
          <a:graphicData uri="http://schemas.openxmlformats.org/drawingml/2006/table">
            <a:tbl>
              <a:tblPr firstRow="1" bandRow="1">
                <a:tableStyleId>{5C22544A-7EE6-4342-B048-85BDC9FD1C3A}</a:tableStyleId>
              </a:tblPr>
              <a:tblGrid>
                <a:gridCol w="1920240"/>
                <a:gridCol w="1234439"/>
                <a:gridCol w="1097280"/>
                <a:gridCol w="1371600"/>
              </a:tblGrid>
              <a:tr h="624839">
                <a:tc>
                  <a:txBody>
                    <a:bodyPr wrap="square"/>
                    <a:lstStyle/>
                    <a:p>
                      <a:pPr algn="l">
                        <a:spcBef>
                          <a:spcPts val="0"/>
                        </a:spcBef>
                        <a:spcAft>
                          <a:spcPts val="0"/>
                        </a:spcAft>
                      </a:pPr>
                      <a:r>
                        <a:rPr sz="1300" b="1" i="0">
                          <a:solidFill>
                            <a:srgbClr val="FFFFFF"/>
                          </a:solidFill>
                          <a:latin typeface="Calibri"/>
                          <a:ea typeface="Calibri"/>
                          <a:cs typeface="Calibri"/>
                        </a:rPr>
                        <a:t>Table 4</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Precision</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Recall</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Acc / F1</a:t>
                      </a:r>
                    </a:p>
                  </a:txBody>
                  <a:tcPr anchor="ctr">
                    <a:solidFill>
                      <a:srgbClr val="0E2744"/>
                    </a:solidFill>
                  </a:tcPr>
                </a:tc>
              </a:tr>
              <a:tr h="624839">
                <a:tc>
                  <a:txBody>
                    <a:bodyPr wrap="square"/>
                    <a:lstStyle/>
                    <a:p>
                      <a:pPr algn="l">
                        <a:spcBef>
                          <a:spcPts val="0"/>
                        </a:spcBef>
                        <a:spcAft>
                          <a:spcPts val="0"/>
                        </a:spcAft>
                      </a:pPr>
                      <a:r>
                        <a:rPr sz="1300" b="1" i="0">
                          <a:solidFill>
                            <a:srgbClr val="1A1F26"/>
                          </a:solidFill>
                          <a:latin typeface="Calibri"/>
                          <a:ea typeface="Calibri"/>
                          <a:cs typeface="Calibri"/>
                        </a:rPr>
                        <a:t>Paper 3 mạng</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99,67%</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100%</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99,83%</a:t>
                      </a:r>
                    </a:p>
                  </a:txBody>
                  <a:tcPr anchor="ctr">
                    <a:solidFill>
                      <a:srgbClr val="FFFFFF"/>
                    </a:solidFill>
                  </a:tcPr>
                </a:tc>
              </a:tr>
              <a:tr h="624841">
                <a:tc>
                  <a:txBody>
                    <a:bodyPr wrap="square"/>
                    <a:lstStyle/>
                    <a:p>
                      <a:pPr algn="l">
                        <a:spcBef>
                          <a:spcPts val="0"/>
                        </a:spcBef>
                        <a:spcAft>
                          <a:spcPts val="0"/>
                        </a:spcAft>
                      </a:pPr>
                      <a:r>
                        <a:rPr sz="1300" b="1" i="0">
                          <a:solidFill>
                            <a:srgbClr val="1A1F26"/>
                          </a:solidFill>
                          <a:latin typeface="Calibri"/>
                          <a:ea typeface="Calibri"/>
                          <a:cs typeface="Calibri"/>
                        </a:rPr>
                        <a:t>Lab MLP/LSTM/CNN</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99,67%</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100%</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99,83%</a:t>
                      </a:r>
                    </a:p>
                  </a:txBody>
                  <a:tcPr anchor="ctr">
                    <a:solidFill>
                      <a:srgbClr val="EEF2F6"/>
                    </a:solidFill>
                  </a:tcPr>
                </a:tc>
              </a:tr>
            </a:tbl>
          </a:graphicData>
        </a:graphic>
      </p:graphicFrame>
      <p:sp>
        <p:nvSpPr>
          <p:cNvPr id="8" name="TextBox 7"/>
          <p:cNvSpPr txBox="1"/>
          <p:nvPr/>
        </p:nvSpPr>
        <p:spPr>
          <a:xfrm>
            <a:off x="411480" y="3063240"/>
            <a:ext cx="5623560" cy="365760"/>
          </a:xfrm>
          <a:prstGeom prst="rect">
            <a:avLst/>
          </a:prstGeom>
          <a:noFill/>
        </p:spPr>
        <p:txBody>
          <a:bodyPr wrap="square" lIns="36576" rIns="36576" tIns="25603" bIns="18288" anchor="t"/>
          <a:lstStyle/>
          <a:p>
            <a:pPr algn="l">
              <a:spcBef>
                <a:spcPts val="0"/>
              </a:spcBef>
              <a:spcAft>
                <a:spcPts val="0"/>
              </a:spcAft>
            </a:pPr>
            <a:r>
              <a:rPr sz="1200" b="0" i="0">
                <a:solidFill>
                  <a:srgbClr val="5A6570"/>
                </a:solidFill>
                <a:latin typeface="Calibri"/>
                <a:ea typeface="Calibri"/>
                <a:cs typeface="Calibri"/>
              </a:rPr>
              <a:t>Test n = 1.802  ·  TP 901  FP 3  TN 898  FN 0  ·  cả ba mạng một bộ số</a:t>
            </a:r>
          </a:p>
        </p:txBody>
      </p:sp>
      <p:graphicFrame>
        <p:nvGraphicFramePr>
          <p:cNvPr id="9" name="Table 8"/>
          <p:cNvGraphicFramePr>
            <a:graphicFrameLocks noGrp="1"/>
          </p:cNvGraphicFramePr>
          <p:nvPr/>
        </p:nvGraphicFramePr>
        <p:xfrm>
          <a:off x="6217920" y="1115568"/>
          <a:ext cx="5532119" cy="2331720"/>
        </p:xfrm>
        <a:graphic>
          <a:graphicData uri="http://schemas.openxmlformats.org/drawingml/2006/table">
            <a:tbl>
              <a:tblPr firstRow="1" bandRow="1">
                <a:tableStyleId>{5C22544A-7EE6-4342-B048-85BDC9FD1C3A}</a:tableStyleId>
              </a:tblPr>
              <a:tblGrid>
                <a:gridCol w="2011680"/>
                <a:gridCol w="1645920"/>
                <a:gridCol w="1874519"/>
              </a:tblGrid>
              <a:tr h="582930">
                <a:tc>
                  <a:txBody>
                    <a:bodyPr wrap="square"/>
                    <a:lstStyle/>
                    <a:p>
                      <a:pPr algn="l">
                        <a:spcBef>
                          <a:spcPts val="0"/>
                        </a:spcBef>
                        <a:spcAft>
                          <a:spcPts val="0"/>
                        </a:spcAft>
                      </a:pPr>
                      <a:r>
                        <a:rPr sz="1300" b="1" i="0">
                          <a:solidFill>
                            <a:srgbClr val="FFFFFF"/>
                          </a:solidFill>
                          <a:latin typeface="Calibri"/>
                          <a:ea typeface="Calibri"/>
                          <a:cs typeface="Calibri"/>
                        </a:rPr>
                        <a:t>PPO không Oracle</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ER lab</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Paper (10 seed)</a:t>
                      </a:r>
                    </a:p>
                  </a:txBody>
                  <a:tcPr anchor="ctr">
                    <a:solidFill>
                      <a:srgbClr val="0E2744"/>
                    </a:solidFill>
                  </a:tcPr>
                </a:tc>
              </a:tr>
              <a:tr h="582930">
                <a:tc>
                  <a:txBody>
                    <a:bodyPr wrap="square"/>
                    <a:lstStyle/>
                    <a:p>
                      <a:pPr algn="l">
                        <a:spcBef>
                          <a:spcPts val="0"/>
                        </a:spcBef>
                        <a:spcAft>
                          <a:spcPts val="0"/>
                        </a:spcAft>
                      </a:pPr>
                      <a:r>
                        <a:rPr sz="1300" b="1" i="0">
                          <a:solidFill>
                            <a:srgbClr val="1A1F26"/>
                          </a:solidFill>
                          <a:latin typeface="Calibri"/>
                          <a:ea typeface="Calibri"/>
                          <a:cs typeface="Calibri"/>
                        </a:rPr>
                        <a:t>LSTM</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98,78%</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98,62%</a:t>
                      </a:r>
                    </a:p>
                  </a:txBody>
                  <a:tcPr anchor="ctr">
                    <a:solidFill>
                      <a:srgbClr val="FFFFFF"/>
                    </a:solidFill>
                  </a:tcPr>
                </a:tc>
              </a:tr>
              <a:tr h="582930">
                <a:tc>
                  <a:txBody>
                    <a:bodyPr wrap="square"/>
                    <a:lstStyle/>
                    <a:p>
                      <a:pPr algn="l">
                        <a:spcBef>
                          <a:spcPts val="0"/>
                        </a:spcBef>
                        <a:spcAft>
                          <a:spcPts val="0"/>
                        </a:spcAft>
                      </a:pPr>
                      <a:r>
                        <a:rPr sz="1300" b="1" i="0">
                          <a:solidFill>
                            <a:srgbClr val="1A1F26"/>
                          </a:solidFill>
                          <a:latin typeface="Calibri"/>
                          <a:ea typeface="Calibri"/>
                          <a:cs typeface="Calibri"/>
                        </a:rPr>
                        <a:t>MLP</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98,67%</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99,73%</a:t>
                      </a:r>
                    </a:p>
                  </a:txBody>
                  <a:tcPr anchor="ctr">
                    <a:solidFill>
                      <a:srgbClr val="EEF2F6"/>
                    </a:solidFill>
                  </a:tcPr>
                </a:tc>
              </a:tr>
              <a:tr h="582930">
                <a:tc>
                  <a:txBody>
                    <a:bodyPr wrap="square"/>
                    <a:lstStyle/>
                    <a:p>
                      <a:pPr algn="l">
                        <a:spcBef>
                          <a:spcPts val="0"/>
                        </a:spcBef>
                        <a:spcAft>
                          <a:spcPts val="0"/>
                        </a:spcAft>
                      </a:pPr>
                      <a:r>
                        <a:rPr sz="1300" b="1" i="0">
                          <a:solidFill>
                            <a:srgbClr val="1A1F26"/>
                          </a:solidFill>
                          <a:latin typeface="Calibri"/>
                          <a:ea typeface="Calibri"/>
                          <a:cs typeface="Calibri"/>
                        </a:rPr>
                        <a:t>CNN</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98,89%</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98,25%</a:t>
                      </a:r>
                    </a:p>
                  </a:txBody>
                  <a:tcPr anchor="ctr">
                    <a:solidFill>
                      <a:srgbClr val="FFFFFF"/>
                    </a:solidFill>
                  </a:tcPr>
                </a:tc>
              </a:tr>
            </a:tbl>
          </a:graphicData>
        </a:graphic>
      </p:graphicFrame>
      <p:graphicFrame>
        <p:nvGraphicFramePr>
          <p:cNvPr id="10" name="Table 9"/>
          <p:cNvGraphicFramePr>
            <a:graphicFrameLocks noGrp="1"/>
          </p:cNvGraphicFramePr>
          <p:nvPr/>
        </p:nvGraphicFramePr>
        <p:xfrm>
          <a:off x="411480" y="3520440"/>
          <a:ext cx="11338560" cy="1874519"/>
        </p:xfrm>
        <a:graphic>
          <a:graphicData uri="http://schemas.openxmlformats.org/drawingml/2006/table">
            <a:tbl>
              <a:tblPr firstRow="1" bandRow="1">
                <a:tableStyleId>{5C22544A-7EE6-4342-B048-85BDC9FD1C3A}</a:tableStyleId>
              </a:tblPr>
              <a:tblGrid>
                <a:gridCol w="4754880"/>
                <a:gridCol w="2011680"/>
                <a:gridCol w="2194560"/>
                <a:gridCol w="2377440"/>
              </a:tblGrid>
              <a:tr h="468629">
                <a:tc>
                  <a:txBody>
                    <a:bodyPr wrap="square"/>
                    <a:lstStyle/>
                    <a:p>
                      <a:pPr algn="l">
                        <a:spcBef>
                          <a:spcPts val="0"/>
                        </a:spcBef>
                        <a:spcAft>
                          <a:spcPts val="0"/>
                        </a:spcAft>
                      </a:pPr>
                      <a:r>
                        <a:rPr sz="1300" b="1" i="0">
                          <a:solidFill>
                            <a:srgbClr val="FFFFFF"/>
                          </a:solidFill>
                          <a:latin typeface="Calibri"/>
                          <a:ea typeface="Calibri"/>
                          <a:cs typeface="Calibri"/>
                        </a:rPr>
                        <a:t>RQ3 Oracle-in-loop (code −5, 250k, seed 42)</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ER lab</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ER paper</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RR(V) lab</a:t>
                      </a:r>
                    </a:p>
                  </a:txBody>
                  <a:tcPr anchor="ctr">
                    <a:solidFill>
                      <a:srgbClr val="0E2744"/>
                    </a:solidFill>
                  </a:tcPr>
                </a:tc>
              </a:tr>
              <a:tr h="468629">
                <a:tc>
                  <a:txBody>
                    <a:bodyPr wrap="square"/>
                    <a:lstStyle/>
                    <a:p>
                      <a:pPr algn="l">
                        <a:spcBef>
                          <a:spcPts val="0"/>
                        </a:spcBef>
                        <a:spcAft>
                          <a:spcPts val="0"/>
                        </a:spcAft>
                      </a:pPr>
                      <a:r>
                        <a:rPr sz="1300" b="1" i="0">
                          <a:solidFill>
                            <a:srgbClr val="1A1F26"/>
                          </a:solidFill>
                          <a:latin typeface="Calibri"/>
                          <a:ea typeface="Calibri"/>
                          <a:cs typeface="Calibri"/>
                        </a:rPr>
                        <a:t>LSTM</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98,34%</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98,13%</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FFFFFF"/>
                    </a:solidFill>
                  </a:tcPr>
                </a:tc>
              </a:tr>
              <a:tr h="468629">
                <a:tc>
                  <a:txBody>
                    <a:bodyPr wrap="square"/>
                    <a:lstStyle/>
                    <a:p>
                      <a:pPr algn="l">
                        <a:spcBef>
                          <a:spcPts val="0"/>
                        </a:spcBef>
                        <a:spcAft>
                          <a:spcPts val="0"/>
                        </a:spcAft>
                      </a:pPr>
                      <a:r>
                        <a:rPr sz="1300" b="1" i="0">
                          <a:solidFill>
                            <a:srgbClr val="1A1F26"/>
                          </a:solidFill>
                          <a:latin typeface="Calibri"/>
                          <a:ea typeface="Calibri"/>
                          <a:cs typeface="Calibri"/>
                        </a:rPr>
                        <a:t>MLP</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97,89%</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97,37%</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EEF2F6"/>
                    </a:solidFill>
                  </a:tcPr>
                </a:tc>
              </a:tr>
              <a:tr h="468632">
                <a:tc>
                  <a:txBody>
                    <a:bodyPr wrap="square"/>
                    <a:lstStyle/>
                    <a:p>
                      <a:pPr algn="l">
                        <a:spcBef>
                          <a:spcPts val="0"/>
                        </a:spcBef>
                        <a:spcAft>
                          <a:spcPts val="0"/>
                        </a:spcAft>
                      </a:pPr>
                      <a:r>
                        <a:rPr sz="1300" b="1" i="0">
                          <a:solidFill>
                            <a:srgbClr val="1A1F26"/>
                          </a:solidFill>
                          <a:latin typeface="Calibri"/>
                          <a:ea typeface="Calibri"/>
                          <a:cs typeface="Calibri"/>
                        </a:rPr>
                        <a:t>CNN</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96,00%</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96,89%</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0,12%</a:t>
                      </a:r>
                    </a:p>
                  </a:txBody>
                  <a:tcPr anchor="ctr">
                    <a:solidFill>
                      <a:srgbClr val="FFFFFF"/>
                    </a:solidFill>
                  </a:tcPr>
                </a:tc>
              </a:tr>
            </a:tbl>
          </a:graphicData>
        </a:graphic>
      </p:graphicFrame>
      <p:sp>
        <p:nvSpPr>
          <p:cNvPr id="11" name="TextBox 10"/>
          <p:cNvSpPr txBox="1"/>
          <p:nvPr/>
        </p:nvSpPr>
        <p:spPr>
          <a:xfrm>
            <a:off x="411480" y="5532120"/>
            <a:ext cx="11338560" cy="777240"/>
          </a:xfrm>
          <a:prstGeom prst="rect">
            <a:avLst/>
          </a:prstGeom>
          <a:noFill/>
        </p:spPr>
        <p:txBody>
          <a:bodyPr wrap="square" lIns="36576" rIns="36576" tIns="25603" bIns="18288" anchor="t"/>
          <a:lstStyle/>
          <a:p>
            <a:pPr algn="l">
              <a:spcBef>
                <a:spcPts val="0"/>
              </a:spcBef>
              <a:spcAft>
                <a:spcPts val="0"/>
              </a:spcAft>
            </a:pPr>
            <a:r>
              <a:rPr sz="1400" b="0" i="0">
                <a:solidFill>
                  <a:srgbClr val="0E2744"/>
                </a:solidFill>
                <a:latin typeface="Calibri"/>
                <a:ea typeface="Calibri"/>
                <a:cs typeface="Calibri"/>
              </a:rPr>
              <a:t>LSTM: RR(E)=8,99%  ·  RR(V)=98,54%  ·  OR(V)=48,54%  →  lọt vì None, không vì XSS mạnh.  LSTM không Oracle 10 seed: 98,48% ± 0,31 (đủ bảng paper).  RQ3 trên 1 seed, cả 3 mạng &gt;96%.</a:t>
            </a:r>
          </a:p>
        </p:txBody>
      </p:sp>
      <p:sp>
        <p:nvSpPr>
          <p:cNvPr id="12" name="Rectangle 11"/>
          <p:cNvSpPr/>
          <p:nvPr/>
        </p:nvSpPr>
        <p:spPr>
          <a:xfrm>
            <a:off x="0" y="6565392"/>
            <a:ext cx="12191695" cy="29260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565392"/>
            <a:ext cx="8686800" cy="292608"/>
          </a:xfrm>
          <a:prstGeom prst="rect">
            <a:avLst/>
          </a:prstGeom>
          <a:noFill/>
        </p:spPr>
        <p:txBody>
          <a:bodyPr wrap="square" lIns="36576" rIns="36576" tIns="25603" bIns="18288" anchor="ctr"/>
          <a:lstStyle/>
          <a:p>
            <a:pPr algn="l">
              <a:spcBef>
                <a:spcPts val="0"/>
              </a:spcBef>
              <a:spcAft>
                <a:spcPts val="0"/>
              </a:spcAft>
            </a:pPr>
            <a:r>
              <a:rPr sz="1100" b="0" i="0">
                <a:solidFill>
                  <a:srgbClr val="FFFFFF"/>
                </a:solidFill>
                <a:latin typeface="Calibri"/>
                <a:ea typeface="Calibri"/>
                <a:cs typeface="Calibri"/>
              </a:rPr>
              <a:t>ATBMHTTT  ·  Không trộn nhánh A (~99%) với nhánh B (~1%)  ·  TASR = HTTP 200 VÀ JS chạy</a:t>
            </a:r>
          </a:p>
        </p:txBody>
      </p:sp>
      <p:sp>
        <p:nvSpPr>
          <p:cNvPr id="14" name="TextBox 13"/>
          <p:cNvSpPr txBox="1"/>
          <p:nvPr/>
        </p:nvSpPr>
        <p:spPr>
          <a:xfrm>
            <a:off x="10515600" y="6565392"/>
            <a:ext cx="1371600" cy="292608"/>
          </a:xfrm>
          <a:prstGeom prst="rect">
            <a:avLst/>
          </a:prstGeom>
          <a:noFill/>
        </p:spPr>
        <p:txBody>
          <a:bodyPr wrap="square" lIns="36576" rIns="36576" tIns="25603" bIns="18288" anchor="ctr"/>
          <a:lstStyle/>
          <a:p>
            <a:pPr algn="r">
              <a:spcBef>
                <a:spcPts val="0"/>
              </a:spcBef>
              <a:spcAft>
                <a:spcPts val="0"/>
              </a:spcAft>
            </a:pPr>
            <a:r>
              <a:rPr sz="1100" b="0" i="0">
                <a:solidFill>
                  <a:srgbClr val="FFFFFF"/>
                </a:solidFill>
                <a:latin typeface="Calibri"/>
                <a:ea typeface="Calibri"/>
                <a:cs typeface="Calibri"/>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47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6304"/>
            <a:ext cx="11338560" cy="256032"/>
          </a:xfrm>
          <a:prstGeom prst="rect">
            <a:avLst/>
          </a:prstGeom>
          <a:noFill/>
        </p:spPr>
        <p:txBody>
          <a:bodyPr wrap="square" lIns="36576" rIns="36576" tIns="25603" bIns="18288" anchor="ctr"/>
          <a:lstStyle/>
          <a:p>
            <a:pPr algn="l">
              <a:spcBef>
                <a:spcPts val="0"/>
              </a:spcBef>
              <a:spcAft>
                <a:spcPts val="0"/>
              </a:spcAft>
            </a:pPr>
            <a:r>
              <a:rPr sz="1100" b="0" i="0">
                <a:solidFill>
                  <a:srgbClr val="C47E12"/>
                </a:solidFill>
                <a:latin typeface="Calibri"/>
                <a:ea typeface="Calibri"/>
                <a:cs typeface="Calibri"/>
              </a:rPr>
              <a:t>NHÁNH B  ·  JSDOM  ·  VOCAB CỐ ĐỊNH</a:t>
            </a:r>
          </a:p>
        </p:txBody>
      </p:sp>
      <p:sp>
        <p:nvSpPr>
          <p:cNvPr id="6" name="TextBox 5"/>
          <p:cNvSpPr txBox="1"/>
          <p:nvPr/>
        </p:nvSpPr>
        <p:spPr>
          <a:xfrm>
            <a:off x="411480" y="384048"/>
            <a:ext cx="11338560" cy="475488"/>
          </a:xfrm>
          <a:prstGeom prst="rect">
            <a:avLst/>
          </a:prstGeom>
          <a:noFill/>
        </p:spPr>
        <p:txBody>
          <a:bodyPr wrap="square" lIns="36576" rIns="36576" tIns="25603" bIns="18288" anchor="ctr"/>
          <a:lstStyle/>
          <a:p>
            <a:pPr algn="l">
              <a:spcBef>
                <a:spcPts val="0"/>
              </a:spcBef>
              <a:spcAft>
                <a:spcPts val="0"/>
              </a:spcAft>
            </a:pPr>
            <a:r>
              <a:rPr sz="2600" b="1" i="0">
                <a:solidFill>
                  <a:srgbClr val="FFFFFF"/>
                </a:solidFill>
                <a:latin typeface="Calibri"/>
                <a:ea typeface="Calibri"/>
                <a:cs typeface="Calibri"/>
              </a:rPr>
              <a:t>Cùng 27 action — ER 99% biến mất</a:t>
            </a:r>
          </a:p>
        </p:txBody>
      </p:sp>
      <p:sp>
        <p:nvSpPr>
          <p:cNvPr id="7" name="Rounded Rectangle 6"/>
          <p:cNvSpPr/>
          <p:nvPr/>
        </p:nvSpPr>
        <p:spPr>
          <a:xfrm>
            <a:off x="411480" y="1143000"/>
            <a:ext cx="3703320" cy="1554480"/>
          </a:xfrm>
          <a:prstGeom prst="roundRect">
            <a:avLst>
              <a:gd name="adj" fmla="val 6000"/>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 rIns="91440" tIns="64007" bIns="45720"/>
          <a:lstStyle/>
          <a:p>
            <a:pPr algn="ctr"/>
            <a:r>
              <a:rPr sz="1100" b="1" i="0">
                <a:solidFill>
                  <a:srgbClr val="E8D7A8"/>
                </a:solidFill>
                <a:latin typeface="Calibri"/>
                <a:ea typeface="Calibri"/>
                <a:cs typeface="Calibri"/>
              </a:rPr>
              <a:t>P1  ·  LỌC MEREANI</a:t>
            </a:r>
          </a:p>
          <a:p>
            <a:pPr algn="ctr">
              <a:spcBef>
                <a:spcPts val="400"/>
              </a:spcBef>
            </a:pPr>
            <a:r>
              <a:rPr sz="2600" b="1" i="0">
                <a:solidFill>
                  <a:srgbClr val="FFFFFF"/>
                </a:solidFill>
                <a:latin typeface="Calibri"/>
                <a:ea typeface="Calibri"/>
                <a:cs typeface="Calibri"/>
              </a:rPr>
              <a:t>10.824</a:t>
            </a:r>
          </a:p>
          <a:p>
            <a:pPr algn="ctr">
              <a:spcBef>
                <a:spcPts val="200"/>
              </a:spcBef>
            </a:pPr>
            <a:r>
              <a:rPr sz="1100" b="0" i="0">
                <a:solidFill>
                  <a:srgbClr val="D0DCE8"/>
                </a:solidFill>
                <a:latin typeface="Calibri"/>
                <a:ea typeface="Calibri"/>
                <a:cs typeface="Calibri"/>
              </a:rPr>
              <a:t>giữ execute  ·  loại 3.542 parser-only  ·  RR gốc = 0</a:t>
            </a:r>
          </a:p>
        </p:txBody>
      </p:sp>
      <p:sp>
        <p:nvSpPr>
          <p:cNvPr id="8" name="Rounded Rectangle 7"/>
          <p:cNvSpPr/>
          <p:nvPr/>
        </p:nvSpPr>
        <p:spPr>
          <a:xfrm>
            <a:off x="4251960" y="1143000"/>
            <a:ext cx="3703320" cy="1554480"/>
          </a:xfrm>
          <a:prstGeom prst="roundRect">
            <a:avLst>
              <a:gd name="adj" fmla="val 6000"/>
            </a:avLst>
          </a:prstGeom>
          <a:solidFill>
            <a:srgbClr val="163A5F"/>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 rIns="91440" tIns="64007" bIns="45720"/>
          <a:lstStyle/>
          <a:p>
            <a:pPr algn="ctr"/>
            <a:r>
              <a:rPr sz="1100" b="1" i="0">
                <a:solidFill>
                  <a:srgbClr val="E8D7A8"/>
                </a:solidFill>
                <a:latin typeface="Calibri"/>
                <a:ea typeface="Calibri"/>
                <a:cs typeface="Calibri"/>
              </a:rPr>
              <a:t>P3  ·  PPO 3×20k</a:t>
            </a:r>
          </a:p>
          <a:p>
            <a:pPr algn="ctr">
              <a:spcBef>
                <a:spcPts val="400"/>
              </a:spcBef>
            </a:pPr>
            <a:r>
              <a:rPr sz="2600" b="1" i="0">
                <a:solidFill>
                  <a:srgbClr val="FFFFFF"/>
                </a:solidFill>
                <a:latin typeface="Calibri"/>
                <a:ea typeface="Calibri"/>
                <a:cs typeface="Calibri"/>
              </a:rPr>
              <a:t>0,75%</a:t>
            </a:r>
          </a:p>
          <a:p>
            <a:pPr algn="ctr">
              <a:spcBef>
                <a:spcPts val="200"/>
              </a:spcBef>
            </a:pPr>
            <a:r>
              <a:rPr sz="1100" b="0" i="0">
                <a:solidFill>
                  <a:srgbClr val="D0DCE8"/>
                </a:solidFill>
                <a:latin typeface="Calibri"/>
                <a:ea typeface="Calibri"/>
                <a:cs typeface="Calibri"/>
              </a:rPr>
              <a:t>ER trung bình  ·  LSTM acc 99,1%</a:t>
            </a:r>
          </a:p>
        </p:txBody>
      </p:sp>
      <p:sp>
        <p:nvSpPr>
          <p:cNvPr id="9" name="Rounded Rectangle 8"/>
          <p:cNvSpPr/>
          <p:nvPr/>
        </p:nvSpPr>
        <p:spPr>
          <a:xfrm>
            <a:off x="8092440" y="1143000"/>
            <a:ext cx="3657600" cy="1554480"/>
          </a:xfrm>
          <a:prstGeom prst="roundRect">
            <a:avLst>
              <a:gd name="adj" fmla="val 6000"/>
            </a:avLst>
          </a:prstGeom>
          <a:solidFill>
            <a:srgbClr val="1F6B4A"/>
          </a:solidFill>
          <a:ln>
            <a:noFill/>
          </a:ln>
        </p:spPr>
        <p:style>
          <a:lnRef idx="1">
            <a:schemeClr val="accent1"/>
          </a:lnRef>
          <a:fillRef idx="3">
            <a:schemeClr val="accent1"/>
          </a:fillRef>
          <a:effectRef idx="2">
            <a:schemeClr val="accent1"/>
          </a:effectRef>
          <a:fontRef idx="minor">
            <a:schemeClr val="lt1"/>
          </a:fontRef>
        </p:style>
        <p:txBody>
          <a:bodyPr rtlCol="0" anchor="ctr" wrap="square" lIns="91440" rIns="91440" tIns="64007" bIns="45720"/>
          <a:lstStyle/>
          <a:p>
            <a:pPr algn="ctr"/>
            <a:r>
              <a:rPr sz="1100" b="1" i="0">
                <a:solidFill>
                  <a:srgbClr val="E8D7A8"/>
                </a:solidFill>
                <a:latin typeface="Calibri"/>
                <a:ea typeface="Calibri"/>
                <a:cs typeface="Calibri"/>
              </a:rPr>
              <a:t>P4  ·  R_exec</a:t>
            </a:r>
          </a:p>
          <a:p>
            <a:pPr algn="ctr">
              <a:spcBef>
                <a:spcPts val="400"/>
              </a:spcBef>
            </a:pPr>
            <a:r>
              <a:rPr sz="2600" b="1" i="0">
                <a:solidFill>
                  <a:srgbClr val="FFFFFF"/>
                </a:solidFill>
                <a:latin typeface="Calibri"/>
                <a:ea typeface="Calibri"/>
                <a:cs typeface="Calibri"/>
              </a:rPr>
              <a:t>0,25%</a:t>
            </a:r>
          </a:p>
          <a:p>
            <a:pPr algn="ctr">
              <a:spcBef>
                <a:spcPts val="200"/>
              </a:spcBef>
            </a:pPr>
            <a:r>
              <a:rPr sz="1100" b="0" i="0">
                <a:solidFill>
                  <a:srgbClr val="D0DCE8"/>
                </a:solidFill>
                <a:latin typeface="Calibri"/>
                <a:ea typeface="Calibri"/>
                <a:cs typeface="Calibri"/>
              </a:rPr>
              <a:t>PPO = sàn false-negative  ·  RR = 0</a:t>
            </a:r>
          </a:p>
        </p:txBody>
      </p:sp>
      <p:graphicFrame>
        <p:nvGraphicFramePr>
          <p:cNvPr id="10" name="Table 9"/>
          <p:cNvGraphicFramePr>
            <a:graphicFrameLocks noGrp="1"/>
          </p:cNvGraphicFramePr>
          <p:nvPr/>
        </p:nvGraphicFramePr>
        <p:xfrm>
          <a:off x="411480" y="2926080"/>
          <a:ext cx="11338560" cy="2331720"/>
        </p:xfrm>
        <a:graphic>
          <a:graphicData uri="http://schemas.openxmlformats.org/drawingml/2006/table">
            <a:tbl>
              <a:tblPr firstRow="1" bandRow="1">
                <a:tableStyleId>{5C22544A-7EE6-4342-B048-85BDC9FD1C3A}</a:tableStyleId>
              </a:tblPr>
              <a:tblGrid>
                <a:gridCol w="4023360"/>
                <a:gridCol w="3291840"/>
                <a:gridCol w="2377440"/>
                <a:gridCol w="1645920"/>
              </a:tblGrid>
              <a:tr h="582930">
                <a:tc>
                  <a:txBody>
                    <a:bodyPr wrap="square"/>
                    <a:lstStyle/>
                    <a:p>
                      <a:pPr algn="l">
                        <a:spcBef>
                          <a:spcPts val="0"/>
                        </a:spcBef>
                        <a:spcAft>
                          <a:spcPts val="0"/>
                        </a:spcAft>
                      </a:pPr>
                      <a:r>
                        <a:rPr sz="1400" b="1" i="0">
                          <a:solidFill>
                            <a:srgbClr val="FFFFFF"/>
                          </a:solidFill>
                          <a:latin typeface="Calibri"/>
                          <a:ea typeface="Calibri"/>
                          <a:cs typeface="Calibri"/>
                        </a:rPr>
                        <a:t>Agent (LSTM đã khép OOV)</a:t>
                      </a:r>
                    </a:p>
                  </a:txBody>
                  <a:tcPr anchor="ctr">
                    <a:solidFill>
                      <a:srgbClr val="0E2744"/>
                    </a:solidFill>
                  </a:tcPr>
                </a:tc>
                <a:tc>
                  <a:txBody>
                    <a:bodyPr wrap="square"/>
                    <a:lstStyle/>
                    <a:p>
                      <a:pPr algn="ctr">
                        <a:spcBef>
                          <a:spcPts val="0"/>
                        </a:spcBef>
                        <a:spcAft>
                          <a:spcPts val="0"/>
                        </a:spcAft>
                      </a:pPr>
                      <a:r>
                        <a:rPr sz="1400" b="1" i="0">
                          <a:solidFill>
                            <a:srgbClr val="FFFFFF"/>
                          </a:solidFill>
                          <a:latin typeface="Calibri"/>
                          <a:ea typeface="Calibri"/>
                          <a:cs typeface="Calibri"/>
                        </a:rPr>
                        <a:t>Oracle trong train</a:t>
                      </a:r>
                    </a:p>
                  </a:txBody>
                  <a:tcPr anchor="ctr">
                    <a:solidFill>
                      <a:srgbClr val="0E2744"/>
                    </a:solidFill>
                  </a:tcPr>
                </a:tc>
                <a:tc>
                  <a:txBody>
                    <a:bodyPr wrap="square"/>
                    <a:lstStyle/>
                    <a:p>
                      <a:pPr algn="ctr">
                        <a:spcBef>
                          <a:spcPts val="0"/>
                        </a:spcBef>
                        <a:spcAft>
                          <a:spcPts val="0"/>
                        </a:spcAft>
                      </a:pPr>
                      <a:r>
                        <a:rPr sz="1400" b="1" i="0">
                          <a:solidFill>
                            <a:srgbClr val="FFFFFF"/>
                          </a:solidFill>
                          <a:latin typeface="Calibri"/>
                          <a:ea typeface="Calibri"/>
                          <a:cs typeface="Calibri"/>
                        </a:rPr>
                        <a:t>ER / TASR</a:t>
                      </a:r>
                    </a:p>
                  </a:txBody>
                  <a:tcPr anchor="ctr">
                    <a:solidFill>
                      <a:srgbClr val="0E2744"/>
                    </a:solidFill>
                  </a:tcPr>
                </a:tc>
                <a:tc>
                  <a:txBody>
                    <a:bodyPr wrap="square"/>
                    <a:lstStyle/>
                    <a:p>
                      <a:pPr algn="ctr">
                        <a:spcBef>
                          <a:spcPts val="0"/>
                        </a:spcBef>
                        <a:spcAft>
                          <a:spcPts val="0"/>
                        </a:spcAft>
                      </a:pPr>
                      <a:r>
                        <a:rPr sz="1400" b="1" i="0">
                          <a:solidFill>
                            <a:srgbClr val="FFFFFF"/>
                          </a:solidFill>
                          <a:latin typeface="Calibri"/>
                          <a:ea typeface="Calibri"/>
                          <a:cs typeface="Calibri"/>
                        </a:rPr>
                        <a:t>RR(E)</a:t>
                      </a:r>
                    </a:p>
                  </a:txBody>
                  <a:tcPr anchor="ctr">
                    <a:solidFill>
                      <a:srgbClr val="0E2744"/>
                    </a:solidFill>
                  </a:tcPr>
                </a:tc>
              </a:tr>
              <a:tr h="582930">
                <a:tc>
                  <a:txBody>
                    <a:bodyPr wrap="square"/>
                    <a:lstStyle/>
                    <a:p>
                      <a:pPr algn="l">
                        <a:spcBef>
                          <a:spcPts val="0"/>
                        </a:spcBef>
                        <a:spcAft>
                          <a:spcPts val="0"/>
                        </a:spcAft>
                      </a:pPr>
                      <a:r>
                        <a:rPr sz="1400" b="1" i="0">
                          <a:solidFill>
                            <a:srgbClr val="1A1F26"/>
                          </a:solidFill>
                          <a:latin typeface="Calibri"/>
                          <a:ea typeface="Calibri"/>
                          <a:cs typeface="Calibri"/>
                        </a:rPr>
                        <a:t>P3 PPO  ·  tb 3 seed × 20k</a:t>
                      </a:r>
                    </a:p>
                  </a:txBody>
                  <a:tcPr anchor="ctr">
                    <a:solidFill>
                      <a:srgbClr val="FFFFFF"/>
                    </a:solidFill>
                  </a:tcPr>
                </a:tc>
                <a:tc>
                  <a:txBody>
                    <a:bodyPr wrap="square"/>
                    <a:lstStyle/>
                    <a:p>
                      <a:pPr algn="ctr">
                        <a:spcBef>
                          <a:spcPts val="0"/>
                        </a:spcBef>
                        <a:spcAft>
                          <a:spcPts val="0"/>
                        </a:spcAft>
                      </a:pPr>
                      <a:r>
                        <a:rPr sz="1400" b="0" i="0">
                          <a:solidFill>
                            <a:srgbClr val="1A1F26"/>
                          </a:solidFill>
                          <a:latin typeface="Calibri"/>
                          <a:ea typeface="Calibri"/>
                          <a:cs typeface="Calibri"/>
                        </a:rPr>
                        <a:t>không</a:t>
                      </a:r>
                    </a:p>
                  </a:txBody>
                  <a:tcPr anchor="ctr">
                    <a:solidFill>
                      <a:srgbClr val="FFFFFF"/>
                    </a:solidFill>
                  </a:tcPr>
                </a:tc>
                <a:tc>
                  <a:txBody>
                    <a:bodyPr wrap="square"/>
                    <a:lstStyle/>
                    <a:p>
                      <a:pPr algn="ctr">
                        <a:spcBef>
                          <a:spcPts val="0"/>
                        </a:spcBef>
                        <a:spcAft>
                          <a:spcPts val="0"/>
                        </a:spcAft>
                      </a:pPr>
                      <a:r>
                        <a:rPr sz="1400" b="0" i="0">
                          <a:solidFill>
                            <a:srgbClr val="1A1F26"/>
                          </a:solidFill>
                          <a:latin typeface="Calibri"/>
                          <a:ea typeface="Calibri"/>
                          <a:cs typeface="Calibri"/>
                        </a:rPr>
                        <a:t>0,75%</a:t>
                      </a:r>
                    </a:p>
                  </a:txBody>
                  <a:tcPr anchor="ctr">
                    <a:solidFill>
                      <a:srgbClr val="FFFFFF"/>
                    </a:solidFill>
                  </a:tcPr>
                </a:tc>
                <a:tc>
                  <a:txBody>
                    <a:bodyPr wrap="square"/>
                    <a:lstStyle/>
                    <a:p>
                      <a:pPr algn="ctr">
                        <a:spcBef>
                          <a:spcPts val="0"/>
                        </a:spcBef>
                        <a:spcAft>
                          <a:spcPts val="0"/>
                        </a:spcAft>
                      </a:pPr>
                      <a:r>
                        <a:rPr sz="1400" b="0" i="0">
                          <a:solidFill>
                            <a:srgbClr val="1A1F26"/>
                          </a:solidFill>
                          <a:latin typeface="Calibri"/>
                          <a:ea typeface="Calibri"/>
                          <a:cs typeface="Calibri"/>
                        </a:rPr>
                        <a:t>0–0,33</a:t>
                      </a:r>
                    </a:p>
                  </a:txBody>
                  <a:tcPr anchor="ctr">
                    <a:solidFill>
                      <a:srgbClr val="FFFFFF"/>
                    </a:solidFill>
                  </a:tcPr>
                </a:tc>
              </a:tr>
              <a:tr h="582930">
                <a:tc>
                  <a:txBody>
                    <a:bodyPr wrap="square"/>
                    <a:lstStyle/>
                    <a:p>
                      <a:pPr algn="l">
                        <a:spcBef>
                          <a:spcPts val="0"/>
                        </a:spcBef>
                        <a:spcAft>
                          <a:spcPts val="0"/>
                        </a:spcAft>
                      </a:pPr>
                      <a:r>
                        <a:rPr sz="1400" b="1" i="0">
                          <a:solidFill>
                            <a:srgbClr val="1A1F26"/>
                          </a:solidFill>
                          <a:latin typeface="Calibri"/>
                          <a:ea typeface="Calibri"/>
                          <a:cs typeface="Calibri"/>
                        </a:rPr>
                        <a:t>P4 PPO + R_exec  ·  tb 3 seed</a:t>
                      </a:r>
                    </a:p>
                  </a:txBody>
                  <a:tcPr anchor="ctr">
                    <a:solidFill>
                      <a:srgbClr val="EEF2F6"/>
                    </a:solidFill>
                  </a:tcPr>
                </a:tc>
                <a:tc>
                  <a:txBody>
                    <a:bodyPr wrap="square"/>
                    <a:lstStyle/>
                    <a:p>
                      <a:pPr algn="ctr">
                        <a:spcBef>
                          <a:spcPts val="0"/>
                        </a:spcBef>
                        <a:spcAft>
                          <a:spcPts val="0"/>
                        </a:spcAft>
                      </a:pPr>
                      <a:r>
                        <a:rPr sz="1400" b="0" i="0">
                          <a:solidFill>
                            <a:srgbClr val="1A1F26"/>
                          </a:solidFill>
                          <a:latin typeface="Calibri"/>
                          <a:ea typeface="Calibri"/>
                          <a:cs typeface="Calibri"/>
                        </a:rPr>
                        <a:t>+10 chỉ khi lọt VÀ execute</a:t>
                      </a:r>
                    </a:p>
                  </a:txBody>
                  <a:tcPr anchor="ctr">
                    <a:solidFill>
                      <a:srgbClr val="EEF2F6"/>
                    </a:solidFill>
                  </a:tcPr>
                </a:tc>
                <a:tc>
                  <a:txBody>
                    <a:bodyPr wrap="square"/>
                    <a:lstStyle/>
                    <a:p>
                      <a:pPr algn="ctr">
                        <a:spcBef>
                          <a:spcPts val="0"/>
                        </a:spcBef>
                        <a:spcAft>
                          <a:spcPts val="0"/>
                        </a:spcAft>
                      </a:pPr>
                      <a:r>
                        <a:rPr sz="1400" b="0" i="0">
                          <a:solidFill>
                            <a:srgbClr val="1A1F26"/>
                          </a:solidFill>
                          <a:latin typeface="Calibri"/>
                          <a:ea typeface="Calibri"/>
                          <a:cs typeface="Calibri"/>
                        </a:rPr>
                        <a:t>0,25%  = sàn FN</a:t>
                      </a:r>
                    </a:p>
                  </a:txBody>
                  <a:tcPr anchor="ctr">
                    <a:solidFill>
                      <a:srgbClr val="EEF2F6"/>
                    </a:solidFill>
                  </a:tcPr>
                </a:tc>
                <a:tc>
                  <a:txBody>
                    <a:bodyPr wrap="square"/>
                    <a:lstStyle/>
                    <a:p>
                      <a:pPr algn="ctr">
                        <a:spcBef>
                          <a:spcPts val="0"/>
                        </a:spcBef>
                        <a:spcAft>
                          <a:spcPts val="0"/>
                        </a:spcAft>
                      </a:pPr>
                      <a:r>
                        <a:rPr sz="1400" b="0" i="0">
                          <a:solidFill>
                            <a:srgbClr val="1A1F26"/>
                          </a:solidFill>
                          <a:latin typeface="Calibri"/>
                          <a:ea typeface="Calibri"/>
                          <a:cs typeface="Calibri"/>
                        </a:rPr>
                        <a:t>0</a:t>
                      </a:r>
                    </a:p>
                  </a:txBody>
                  <a:tcPr anchor="ctr">
                    <a:solidFill>
                      <a:srgbClr val="EEF2F6"/>
                    </a:solidFill>
                  </a:tcPr>
                </a:tc>
              </a:tr>
              <a:tr h="582930">
                <a:tc>
                  <a:txBody>
                    <a:bodyPr wrap="square"/>
                    <a:lstStyle/>
                    <a:p>
                      <a:pPr algn="l">
                        <a:spcBef>
                          <a:spcPts val="0"/>
                        </a:spcBef>
                        <a:spcAft>
                          <a:spcPts val="0"/>
                        </a:spcAft>
                      </a:pPr>
                      <a:r>
                        <a:rPr sz="1400" b="1" i="0">
                          <a:solidFill>
                            <a:srgbClr val="1A1F26"/>
                          </a:solidFill>
                          <a:latin typeface="Calibri"/>
                          <a:ea typeface="Calibri"/>
                          <a:cs typeface="Calibri"/>
                        </a:rPr>
                        <a:t>P4 Dueling DQN  ·  tb 3 seed</a:t>
                      </a:r>
                    </a:p>
                  </a:txBody>
                  <a:tcPr anchor="ctr">
                    <a:solidFill>
                      <a:srgbClr val="FFFFFF"/>
                    </a:solidFill>
                  </a:tcPr>
                </a:tc>
                <a:tc>
                  <a:txBody>
                    <a:bodyPr wrap="square"/>
                    <a:lstStyle/>
                    <a:p>
                      <a:pPr algn="ctr">
                        <a:spcBef>
                          <a:spcPts val="0"/>
                        </a:spcBef>
                        <a:spcAft>
                          <a:spcPts val="0"/>
                        </a:spcAft>
                      </a:pPr>
                      <a:r>
                        <a:rPr sz="1400" b="0" i="0">
                          <a:solidFill>
                            <a:srgbClr val="1A1F26"/>
                          </a:solidFill>
                          <a:latin typeface="Calibri"/>
                          <a:ea typeface="Calibri"/>
                          <a:cs typeface="Calibri"/>
                        </a:rPr>
                        <a:t>như P4</a:t>
                      </a:r>
                    </a:p>
                  </a:txBody>
                  <a:tcPr anchor="ctr">
                    <a:solidFill>
                      <a:srgbClr val="FFFFFF"/>
                    </a:solidFill>
                  </a:tcPr>
                </a:tc>
                <a:tc>
                  <a:txBody>
                    <a:bodyPr wrap="square"/>
                    <a:lstStyle/>
                    <a:p>
                      <a:pPr algn="ctr">
                        <a:spcBef>
                          <a:spcPts val="0"/>
                        </a:spcBef>
                        <a:spcAft>
                          <a:spcPts val="0"/>
                        </a:spcAft>
                      </a:pPr>
                      <a:r>
                        <a:rPr sz="1400" b="0" i="0">
                          <a:solidFill>
                            <a:srgbClr val="1A1F26"/>
                          </a:solidFill>
                          <a:latin typeface="Calibri"/>
                          <a:ea typeface="Calibri"/>
                          <a:cs typeface="Calibri"/>
                        </a:rPr>
                        <a:t>1,08%</a:t>
                      </a:r>
                    </a:p>
                  </a:txBody>
                  <a:tcPr anchor="ctr">
                    <a:solidFill>
                      <a:srgbClr val="FFFFFF"/>
                    </a:solidFill>
                  </a:tcPr>
                </a:tc>
                <a:tc>
                  <a:txBody>
                    <a:bodyPr wrap="square"/>
                    <a:lstStyle/>
                    <a:p>
                      <a:pPr algn="ctr">
                        <a:spcBef>
                          <a:spcPts val="0"/>
                        </a:spcBef>
                        <a:spcAft>
                          <a:spcPts val="0"/>
                        </a:spcAft>
                      </a:pPr>
                      <a:r>
                        <a:rPr sz="1400" b="0" i="0">
                          <a:solidFill>
                            <a:srgbClr val="1A1F26"/>
                          </a:solidFill>
                          <a:latin typeface="Calibri"/>
                          <a:ea typeface="Calibri"/>
                          <a:cs typeface="Calibri"/>
                        </a:rPr>
                        <a:t>0</a:t>
                      </a:r>
                    </a:p>
                  </a:txBody>
                  <a:tcPr anchor="ctr">
                    <a:solidFill>
                      <a:srgbClr val="FFFFFF"/>
                    </a:solidFill>
                  </a:tcPr>
                </a:tc>
              </a:tr>
            </a:tbl>
          </a:graphicData>
        </a:graphic>
      </p:graphicFrame>
      <p:sp>
        <p:nvSpPr>
          <p:cNvPr id="11" name="TextBox 10"/>
          <p:cNvSpPr txBox="1"/>
          <p:nvPr/>
        </p:nvSpPr>
        <p:spPr>
          <a:xfrm>
            <a:off x="411480" y="5394960"/>
            <a:ext cx="11338560" cy="868680"/>
          </a:xfrm>
          <a:prstGeom prst="rect">
            <a:avLst/>
          </a:prstGeom>
          <a:noFill/>
        </p:spPr>
        <p:txBody>
          <a:bodyPr wrap="square" lIns="36576" rIns="36576" tIns="25603" bIns="18288" anchor="t"/>
          <a:lstStyle/>
          <a:p>
            <a:pPr algn="l">
              <a:spcBef>
                <a:spcPts val="0"/>
              </a:spcBef>
              <a:spcAft>
                <a:spcPts val="0"/>
              </a:spcAft>
            </a:pPr>
            <a:r>
              <a:rPr sz="1400" b="0" i="0">
                <a:solidFill>
                  <a:srgbClr val="0E2744"/>
                </a:solidFill>
                <a:latin typeface="Calibri"/>
                <a:ea typeface="Calibri"/>
                <a:cs typeface="Calibri"/>
              </a:rPr>
              <a:t>A18/A21 lab viết lại (artifact no-op / (1)(1)).  Wilcoxon P3 vs P4: n=2, p=0,5 — chỉ mô tả, không pretent ý nghĩa.  Không viết “DQN mạnh hơn Chen”.  Không viết replication ER 99% trên nhánh B.</a:t>
            </a:r>
          </a:p>
        </p:txBody>
      </p:sp>
      <p:sp>
        <p:nvSpPr>
          <p:cNvPr id="12" name="Rectangle 11"/>
          <p:cNvSpPr/>
          <p:nvPr/>
        </p:nvSpPr>
        <p:spPr>
          <a:xfrm>
            <a:off x="0" y="6565392"/>
            <a:ext cx="12191695" cy="29260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565392"/>
            <a:ext cx="8686800" cy="292608"/>
          </a:xfrm>
          <a:prstGeom prst="rect">
            <a:avLst/>
          </a:prstGeom>
          <a:noFill/>
        </p:spPr>
        <p:txBody>
          <a:bodyPr wrap="square" lIns="36576" rIns="36576" tIns="25603" bIns="18288" anchor="ctr"/>
          <a:lstStyle/>
          <a:p>
            <a:pPr algn="l">
              <a:spcBef>
                <a:spcPts val="0"/>
              </a:spcBef>
              <a:spcAft>
                <a:spcPts val="0"/>
              </a:spcAft>
            </a:pPr>
            <a:r>
              <a:rPr sz="1100" b="0" i="0">
                <a:solidFill>
                  <a:srgbClr val="FFFFFF"/>
                </a:solidFill>
                <a:latin typeface="Calibri"/>
                <a:ea typeface="Calibri"/>
                <a:cs typeface="Calibri"/>
              </a:rPr>
              <a:t>ATBMHTTT  ·  Không trộn nhánh A (~99%) với nhánh B (~1%)  ·  TASR = HTTP 200 VÀ JS chạy</a:t>
            </a:r>
          </a:p>
        </p:txBody>
      </p:sp>
      <p:sp>
        <p:nvSpPr>
          <p:cNvPr id="14" name="TextBox 13"/>
          <p:cNvSpPr txBox="1"/>
          <p:nvPr/>
        </p:nvSpPr>
        <p:spPr>
          <a:xfrm>
            <a:off x="10515600" y="6565392"/>
            <a:ext cx="1371600" cy="292608"/>
          </a:xfrm>
          <a:prstGeom prst="rect">
            <a:avLst/>
          </a:prstGeom>
          <a:noFill/>
        </p:spPr>
        <p:txBody>
          <a:bodyPr wrap="square" lIns="36576" rIns="36576" tIns="25603" bIns="18288" anchor="ctr"/>
          <a:lstStyle/>
          <a:p>
            <a:pPr algn="r">
              <a:spcBef>
                <a:spcPts val="0"/>
              </a:spcBef>
              <a:spcAft>
                <a:spcPts val="0"/>
              </a:spcAft>
            </a:pPr>
            <a:r>
              <a:rPr sz="1100" b="0" i="0">
                <a:solidFill>
                  <a:srgbClr val="FFFFFF"/>
                </a:solidFill>
                <a:latin typeface="Calibri"/>
                <a:ea typeface="Calibri"/>
                <a:cs typeface="Calibri"/>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47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6304"/>
            <a:ext cx="11338560" cy="256032"/>
          </a:xfrm>
          <a:prstGeom prst="rect">
            <a:avLst/>
          </a:prstGeom>
          <a:noFill/>
        </p:spPr>
        <p:txBody>
          <a:bodyPr wrap="square" lIns="36576" rIns="36576" tIns="25603" bIns="18288" anchor="ctr"/>
          <a:lstStyle/>
          <a:p>
            <a:pPr algn="l">
              <a:spcBef>
                <a:spcPts val="0"/>
              </a:spcBef>
              <a:spcAft>
                <a:spcPts val="0"/>
              </a:spcAft>
            </a:pPr>
            <a:r>
              <a:rPr sz="1100" b="0" i="0">
                <a:solidFill>
                  <a:srgbClr val="C47E12"/>
                </a:solidFill>
                <a:latin typeface="Calibri"/>
                <a:ea typeface="Calibri"/>
                <a:cs typeface="Calibri"/>
              </a:rPr>
              <a:t>KIỂM TRA BỘ LỌC  ·  P5</a:t>
            </a:r>
          </a:p>
        </p:txBody>
      </p:sp>
      <p:sp>
        <p:nvSpPr>
          <p:cNvPr id="6" name="TextBox 5"/>
          <p:cNvSpPr txBox="1"/>
          <p:nvPr/>
        </p:nvSpPr>
        <p:spPr>
          <a:xfrm>
            <a:off x="411480" y="384048"/>
            <a:ext cx="11338560" cy="475488"/>
          </a:xfrm>
          <a:prstGeom prst="rect">
            <a:avLst/>
          </a:prstGeom>
          <a:noFill/>
        </p:spPr>
        <p:txBody>
          <a:bodyPr wrap="square" lIns="36576" rIns="36576" tIns="25603" bIns="18288" anchor="ctr"/>
          <a:lstStyle/>
          <a:p>
            <a:pPr algn="l">
              <a:spcBef>
                <a:spcPts val="0"/>
              </a:spcBef>
              <a:spcAft>
                <a:spcPts val="0"/>
              </a:spcAft>
            </a:pPr>
            <a:r>
              <a:rPr sz="2600" b="1" i="0">
                <a:solidFill>
                  <a:srgbClr val="FFFFFF"/>
                </a:solidFill>
                <a:latin typeface="Calibri"/>
                <a:ea typeface="Calibri"/>
                <a:cs typeface="Calibri"/>
              </a:rPr>
              <a:t>CRS lab TASR = 0  ·  DOMPurify Δ = 1</a:t>
            </a:r>
          </a:p>
        </p:txBody>
      </p:sp>
      <p:graphicFrame>
        <p:nvGraphicFramePr>
          <p:cNvPr id="7" name="Table 6"/>
          <p:cNvGraphicFramePr>
            <a:graphicFrameLocks noGrp="1"/>
          </p:cNvGraphicFramePr>
          <p:nvPr/>
        </p:nvGraphicFramePr>
        <p:xfrm>
          <a:off x="411480" y="1115568"/>
          <a:ext cx="11338560" cy="2331720"/>
        </p:xfrm>
        <a:graphic>
          <a:graphicData uri="http://schemas.openxmlformats.org/drawingml/2006/table">
            <a:tbl>
              <a:tblPr firstRow="1" bandRow="1">
                <a:tableStyleId>{5C22544A-7EE6-4342-B048-85BDC9FD1C3A}</a:tableStyleId>
              </a:tblPr>
              <a:tblGrid>
                <a:gridCol w="3023616"/>
                <a:gridCol w="1322832"/>
                <a:gridCol w="1417320"/>
                <a:gridCol w="1322832"/>
                <a:gridCol w="1417320"/>
                <a:gridCol w="1417320"/>
                <a:gridCol w="1417320"/>
              </a:tblGrid>
              <a:tr h="466344">
                <a:tc>
                  <a:txBody>
                    <a:bodyPr wrap="square"/>
                    <a:lstStyle/>
                    <a:p>
                      <a:pPr algn="l">
                        <a:spcBef>
                          <a:spcPts val="0"/>
                        </a:spcBef>
                        <a:spcAft>
                          <a:spcPts val="0"/>
                        </a:spcAft>
                      </a:pPr>
                      <a:r>
                        <a:rPr sz="1300" b="1" i="0">
                          <a:solidFill>
                            <a:srgbClr val="FFFFFF"/>
                          </a:solidFill>
                          <a:latin typeface="Calibri"/>
                          <a:ea typeface="Calibri"/>
                          <a:cs typeface="Calibri"/>
                        </a:rPr>
                        <a:t>Đích (84 mẫu, /html)</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BLOCK</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NOEXEC</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EXEC</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Escape</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TASR</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Δ</a:t>
                      </a:r>
                    </a:p>
                  </a:txBody>
                  <a:tcPr anchor="ctr">
                    <a:solidFill>
                      <a:srgbClr val="0E2744"/>
                    </a:solidFill>
                  </a:tcPr>
                </a:tc>
              </a:tr>
              <a:tr h="466344">
                <a:tc>
                  <a:txBody>
                    <a:bodyPr wrap="square"/>
                    <a:lstStyle/>
                    <a:p>
                      <a:pPr algn="l">
                        <a:spcBef>
                          <a:spcPts val="0"/>
                        </a:spcBef>
                        <a:spcAft>
                          <a:spcPts val="0"/>
                        </a:spcAft>
                      </a:pPr>
                      <a:r>
                        <a:rPr sz="1300" b="1" i="0">
                          <a:solidFill>
                            <a:srgbClr val="1A1F26"/>
                          </a:solidFill>
                          <a:latin typeface="Calibri"/>
                          <a:ea typeface="Calibri"/>
                          <a:cs typeface="Calibri"/>
                        </a:rPr>
                        <a:t>App không WAF  :13000</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13</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71</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100%</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84,5%</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0,16</a:t>
                      </a:r>
                    </a:p>
                  </a:txBody>
                  <a:tcPr anchor="ctr">
                    <a:solidFill>
                      <a:srgbClr val="FFFFFF"/>
                    </a:solidFill>
                  </a:tcPr>
                </a:tc>
              </a:tr>
              <a:tr h="466344">
                <a:tc>
                  <a:txBody>
                    <a:bodyPr wrap="square"/>
                    <a:lstStyle/>
                    <a:p>
                      <a:pPr algn="l">
                        <a:spcBef>
                          <a:spcPts val="0"/>
                        </a:spcBef>
                        <a:spcAft>
                          <a:spcPts val="0"/>
                        </a:spcAft>
                      </a:pPr>
                      <a:r>
                        <a:rPr sz="1300" b="1" i="0">
                          <a:solidFill>
                            <a:srgbClr val="1A1F26"/>
                          </a:solidFill>
                          <a:latin typeface="Calibri"/>
                          <a:ea typeface="Calibri"/>
                          <a:cs typeface="Calibri"/>
                        </a:rPr>
                        <a:t>CRS PL1  :18080</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84</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EEF2F6"/>
                    </a:solidFill>
                  </a:tcPr>
                </a:tc>
              </a:tr>
              <a:tr h="466344">
                <a:tc>
                  <a:txBody>
                    <a:bodyPr wrap="square"/>
                    <a:lstStyle/>
                    <a:p>
                      <a:pPr algn="l">
                        <a:spcBef>
                          <a:spcPts val="0"/>
                        </a:spcBef>
                        <a:spcAft>
                          <a:spcPts val="0"/>
                        </a:spcAft>
                      </a:pPr>
                      <a:r>
                        <a:rPr sz="1300" b="1" i="0">
                          <a:solidFill>
                            <a:srgbClr val="1A1F26"/>
                          </a:solidFill>
                          <a:latin typeface="Calibri"/>
                          <a:ea typeface="Calibri"/>
                          <a:cs typeface="Calibri"/>
                        </a:rPr>
                        <a:t>CRS PL2  :18081</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84</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FFFFFF"/>
                    </a:solidFill>
                  </a:tcPr>
                </a:tc>
              </a:tr>
              <a:tr h="466344">
                <a:tc>
                  <a:txBody>
                    <a:bodyPr wrap="square"/>
                    <a:lstStyle/>
                    <a:p>
                      <a:pPr algn="l">
                        <a:spcBef>
                          <a:spcPts val="0"/>
                        </a:spcBef>
                        <a:spcAft>
                          <a:spcPts val="0"/>
                        </a:spcAft>
                      </a:pPr>
                      <a:r>
                        <a:rPr sz="1300" b="1" i="0">
                          <a:solidFill>
                            <a:srgbClr val="1A1F26"/>
                          </a:solidFill>
                          <a:latin typeface="Calibri"/>
                          <a:ea typeface="Calibri"/>
                          <a:cs typeface="Calibri"/>
                        </a:rPr>
                        <a:t>DOMPurify</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84</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100%</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1,00</a:t>
                      </a:r>
                    </a:p>
                  </a:txBody>
                  <a:tcPr anchor="ctr">
                    <a:solidFill>
                      <a:srgbClr val="EEF2F6"/>
                    </a:solidFill>
                  </a:tcPr>
                </a:tc>
              </a:tr>
            </a:tbl>
          </a:graphicData>
        </a:graphic>
      </p:graphicFrame>
      <p:graphicFrame>
        <p:nvGraphicFramePr>
          <p:cNvPr id="8" name="Table 7"/>
          <p:cNvGraphicFramePr>
            <a:graphicFrameLocks noGrp="1"/>
          </p:cNvGraphicFramePr>
          <p:nvPr/>
        </p:nvGraphicFramePr>
        <p:xfrm>
          <a:off x="411480" y="3611880"/>
          <a:ext cx="11338560" cy="1554480"/>
        </p:xfrm>
        <a:graphic>
          <a:graphicData uri="http://schemas.openxmlformats.org/drawingml/2006/table">
            <a:tbl>
              <a:tblPr firstRow="1" bandRow="1">
                <a:tableStyleId>{5C22544A-7EE6-4342-B048-85BDC9FD1C3A}</a:tableStyleId>
              </a:tblPr>
              <a:tblGrid>
                <a:gridCol w="6766560"/>
                <a:gridCol w="2926080"/>
                <a:gridCol w="1645920"/>
              </a:tblGrid>
              <a:tr h="518160">
                <a:tc>
                  <a:txBody>
                    <a:bodyPr wrap="square"/>
                    <a:lstStyle/>
                    <a:p>
                      <a:pPr algn="l">
                        <a:spcBef>
                          <a:spcPts val="0"/>
                        </a:spcBef>
                        <a:spcAft>
                          <a:spcPts val="0"/>
                        </a:spcAft>
                      </a:pPr>
                      <a:r>
                        <a:rPr sz="1300" b="1" i="0">
                          <a:solidFill>
                            <a:srgbClr val="FFFFFF"/>
                          </a:solidFill>
                          <a:latin typeface="Calibri"/>
                          <a:ea typeface="Calibri"/>
                          <a:cs typeface="Calibri"/>
                        </a:rPr>
                        <a:t>Mở rộng trên CRS PL1</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n</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TASR</a:t>
                      </a:r>
                    </a:p>
                  </a:txBody>
                  <a:tcPr anchor="ctr">
                    <a:solidFill>
                      <a:srgbClr val="0E2744"/>
                    </a:solidFill>
                  </a:tcPr>
                </a:tc>
              </a:tr>
              <a:tr h="518160">
                <a:tc>
                  <a:txBody>
                    <a:bodyPr wrap="square"/>
                    <a:lstStyle/>
                    <a:p>
                      <a:pPr algn="l">
                        <a:spcBef>
                          <a:spcPts val="0"/>
                        </a:spcBef>
                        <a:spcAft>
                          <a:spcPts val="0"/>
                        </a:spcAft>
                      </a:pPr>
                      <a:r>
                        <a:rPr sz="1300" b="1" i="0">
                          <a:solidFill>
                            <a:srgbClr val="1A1F26"/>
                          </a:solidFill>
                          <a:latin typeface="Calibri"/>
                          <a:ea typeface="Calibri"/>
                          <a:cs typeface="Calibri"/>
                        </a:rPr>
                        <a:t>Mereani × (gốc+27 action)  ·  chuỗi 2–3 action  ·  /attr /js</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1120+686+672+168</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FFFFFF"/>
                    </a:solidFill>
                  </a:tcPr>
                </a:tc>
              </a:tr>
              <a:tr h="518160">
                <a:tc>
                  <a:txBody>
                    <a:bodyPr wrap="square"/>
                    <a:lstStyle/>
                    <a:p>
                      <a:pPr algn="l">
                        <a:spcBef>
                          <a:spcPts val="0"/>
                        </a:spcBef>
                        <a:spcAft>
                          <a:spcPts val="0"/>
                        </a:spcAft>
                      </a:pPr>
                      <a:r>
                        <a:rPr sz="1300" b="1" i="0">
                          <a:solidFill>
                            <a:srgbClr val="1A1F26"/>
                          </a:solidFill>
                          <a:latin typeface="Calibri"/>
                          <a:ea typeface="Calibri"/>
                          <a:cs typeface="Calibri"/>
                        </a:rPr>
                        <a:t>Transfer PPO P3 / P4  →  CRS (80 mẫu)</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80 + 80</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0</a:t>
                      </a:r>
                    </a:p>
                  </a:txBody>
                  <a:tcPr anchor="ctr">
                    <a:solidFill>
                      <a:srgbClr val="EEF2F6"/>
                    </a:solidFill>
                  </a:tcPr>
                </a:tc>
              </a:tr>
            </a:tbl>
          </a:graphicData>
        </a:graphic>
      </p:graphicFrame>
      <p:sp>
        <p:nvSpPr>
          <p:cNvPr id="9" name="TextBox 8"/>
          <p:cNvSpPr txBox="1"/>
          <p:nvPr/>
        </p:nvSpPr>
        <p:spPr>
          <a:xfrm>
            <a:off x="411480" y="5303520"/>
            <a:ext cx="11338560" cy="960120"/>
          </a:xfrm>
          <a:prstGeom prst="rect">
            <a:avLst/>
          </a:prstGeom>
          <a:noFill/>
        </p:spPr>
        <p:txBody>
          <a:bodyPr wrap="square" lIns="36576" rIns="36576" tIns="25603" bIns="18288" anchor="t"/>
          <a:lstStyle/>
          <a:p>
            <a:pPr algn="l">
              <a:spcBef>
                <a:spcPts val="0"/>
              </a:spcBef>
              <a:spcAft>
                <a:spcPts val="0"/>
              </a:spcAft>
            </a:pPr>
            <a:r>
              <a:rPr sz="1500" b="0" i="0">
                <a:solidFill>
                  <a:srgbClr val="0E2744"/>
                </a:solidFill>
                <a:latin typeface="Calibri"/>
                <a:ea typeface="Calibri"/>
                <a:cs typeface="Calibri"/>
              </a:rPr>
              <a:t>WAF không dính token None.  Lọt HTTP ≠ còn độc (Purify).  Gate BYPASS_EXEC trên PL1 không đạt → không huấn luyện RL trên CRS.  Playwright Chromium hold-out 4 seed khớp JSDOM.  Không claim bypass WAF cloud.</a:t>
            </a:r>
          </a:p>
        </p:txBody>
      </p:sp>
      <p:sp>
        <p:nvSpPr>
          <p:cNvPr id="10" name="Rectangle 9"/>
          <p:cNvSpPr/>
          <p:nvPr/>
        </p:nvSpPr>
        <p:spPr>
          <a:xfrm>
            <a:off x="0" y="6565392"/>
            <a:ext cx="12191695" cy="29260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65392"/>
            <a:ext cx="8686800" cy="292608"/>
          </a:xfrm>
          <a:prstGeom prst="rect">
            <a:avLst/>
          </a:prstGeom>
          <a:noFill/>
        </p:spPr>
        <p:txBody>
          <a:bodyPr wrap="square" lIns="36576" rIns="36576" tIns="25603" bIns="18288" anchor="ctr"/>
          <a:lstStyle/>
          <a:p>
            <a:pPr algn="l">
              <a:spcBef>
                <a:spcPts val="0"/>
              </a:spcBef>
              <a:spcAft>
                <a:spcPts val="0"/>
              </a:spcAft>
            </a:pPr>
            <a:r>
              <a:rPr sz="1100" b="0" i="0">
                <a:solidFill>
                  <a:srgbClr val="FFFFFF"/>
                </a:solidFill>
                <a:latin typeface="Calibri"/>
                <a:ea typeface="Calibri"/>
                <a:cs typeface="Calibri"/>
              </a:rPr>
              <a:t>ATBMHTTT  ·  Không trộn nhánh A (~99%) với nhánh B (~1%)  ·  TASR = HTTP 200 VÀ JS chạy</a:t>
            </a:r>
          </a:p>
        </p:txBody>
      </p:sp>
      <p:sp>
        <p:nvSpPr>
          <p:cNvPr id="12" name="TextBox 11"/>
          <p:cNvSpPr txBox="1"/>
          <p:nvPr/>
        </p:nvSpPr>
        <p:spPr>
          <a:xfrm>
            <a:off x="10515600" y="6565392"/>
            <a:ext cx="1371600" cy="292608"/>
          </a:xfrm>
          <a:prstGeom prst="rect">
            <a:avLst/>
          </a:prstGeom>
          <a:noFill/>
        </p:spPr>
        <p:txBody>
          <a:bodyPr wrap="square" lIns="36576" rIns="36576" tIns="25603" bIns="18288" anchor="ctr"/>
          <a:lstStyle/>
          <a:p>
            <a:pPr algn="r">
              <a:spcBef>
                <a:spcPts val="0"/>
              </a:spcBef>
              <a:spcAft>
                <a:spcPts val="0"/>
              </a:spcAft>
            </a:pPr>
            <a:r>
              <a:rPr sz="1100" b="0" i="0">
                <a:solidFill>
                  <a:srgbClr val="FFFFFF"/>
                </a:solidFill>
                <a:latin typeface="Calibri"/>
                <a:ea typeface="Calibri"/>
                <a:cs typeface="Calibri"/>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47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6304"/>
            <a:ext cx="11338560" cy="256032"/>
          </a:xfrm>
          <a:prstGeom prst="rect">
            <a:avLst/>
          </a:prstGeom>
          <a:noFill/>
        </p:spPr>
        <p:txBody>
          <a:bodyPr wrap="square" lIns="36576" rIns="36576" tIns="25603" bIns="18288" anchor="ctr"/>
          <a:lstStyle/>
          <a:p>
            <a:pPr algn="l">
              <a:spcBef>
                <a:spcPts val="0"/>
              </a:spcBef>
              <a:spcAft>
                <a:spcPts val="0"/>
              </a:spcAft>
            </a:pPr>
            <a:r>
              <a:rPr sz="1100" b="0" i="0">
                <a:solidFill>
                  <a:srgbClr val="C47E12"/>
                </a:solidFill>
                <a:latin typeface="Calibri"/>
                <a:ea typeface="Calibri"/>
                <a:cs typeface="Calibri"/>
              </a:rPr>
              <a:t>KẾT LUẬN</a:t>
            </a:r>
          </a:p>
        </p:txBody>
      </p:sp>
      <p:sp>
        <p:nvSpPr>
          <p:cNvPr id="6" name="TextBox 5"/>
          <p:cNvSpPr txBox="1"/>
          <p:nvPr/>
        </p:nvSpPr>
        <p:spPr>
          <a:xfrm>
            <a:off x="411480" y="384048"/>
            <a:ext cx="11338560" cy="475488"/>
          </a:xfrm>
          <a:prstGeom prst="rect">
            <a:avLst/>
          </a:prstGeom>
          <a:noFill/>
        </p:spPr>
        <p:txBody>
          <a:bodyPr wrap="square" lIns="36576" rIns="36576" tIns="25603" bIns="18288" anchor="ctr"/>
          <a:lstStyle/>
          <a:p>
            <a:pPr algn="l">
              <a:spcBef>
                <a:spcPts val="0"/>
              </a:spcBef>
              <a:spcAft>
                <a:spcPts val="0"/>
              </a:spcAft>
            </a:pPr>
            <a:r>
              <a:rPr sz="2600" b="1" i="0">
                <a:solidFill>
                  <a:srgbClr val="FFFFFF"/>
                </a:solidFill>
                <a:latin typeface="Calibri"/>
                <a:ea typeface="Calibri"/>
                <a:cs typeface="Calibri"/>
              </a:rPr>
              <a:t>Sinh mẫu PPO đủ để kiểm tra — không cần lọt WAF</a:t>
            </a:r>
          </a:p>
        </p:txBody>
      </p:sp>
      <p:sp>
        <p:nvSpPr>
          <p:cNvPr id="7" name="Rounded Rectangle 6"/>
          <p:cNvSpPr/>
          <p:nvPr/>
        </p:nvSpPr>
        <p:spPr>
          <a:xfrm>
            <a:off x="411480" y="1115568"/>
            <a:ext cx="11338560" cy="658368"/>
          </a:xfrm>
          <a:prstGeom prst="roundRect">
            <a:avLst>
              <a:gd name="adj" fmla="val 6000"/>
            </a:avLst>
          </a:prstGeom>
          <a:solidFill>
            <a:srgbClr val="FFFFFF"/>
          </a:solidFill>
          <a:ln w="12700">
            <a:solidFill>
              <a:srgbClr val="D4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1188720"/>
            <a:ext cx="411480" cy="502920"/>
          </a:xfrm>
          <a:prstGeom prst="rect">
            <a:avLst/>
          </a:prstGeom>
          <a:noFill/>
        </p:spPr>
        <p:txBody>
          <a:bodyPr wrap="square" lIns="36576" rIns="36576" tIns="25603" bIns="18288" anchor="ctr"/>
          <a:lstStyle/>
          <a:p>
            <a:pPr algn="l">
              <a:spcBef>
                <a:spcPts val="0"/>
              </a:spcBef>
              <a:spcAft>
                <a:spcPts val="0"/>
              </a:spcAft>
            </a:pPr>
            <a:r>
              <a:rPr sz="2000" b="1" i="0">
                <a:solidFill>
                  <a:srgbClr val="C47E12"/>
                </a:solidFill>
                <a:latin typeface="Calibri"/>
                <a:ea typeface="Calibri"/>
                <a:cs typeface="Calibri"/>
              </a:rPr>
              <a:t>1</a:t>
            </a:r>
          </a:p>
        </p:txBody>
      </p:sp>
      <p:sp>
        <p:nvSpPr>
          <p:cNvPr id="9" name="TextBox 8"/>
          <p:cNvSpPr txBox="1"/>
          <p:nvPr/>
        </p:nvSpPr>
        <p:spPr>
          <a:xfrm>
            <a:off x="1051560" y="1188720"/>
            <a:ext cx="10515600" cy="502920"/>
          </a:xfrm>
          <a:prstGeom prst="rect">
            <a:avLst/>
          </a:prstGeom>
          <a:noFill/>
        </p:spPr>
        <p:txBody>
          <a:bodyPr wrap="square" lIns="36576" rIns="36576" tIns="25603" bIns="18288" anchor="ctr"/>
          <a:lstStyle/>
          <a:p>
            <a:pPr algn="l">
              <a:spcBef>
                <a:spcPts val="0"/>
              </a:spcBef>
              <a:spcAft>
                <a:spcPts val="0"/>
              </a:spcAft>
            </a:pPr>
            <a:r>
              <a:rPr sz="1500" b="0" i="0">
                <a:solidFill>
                  <a:srgbClr val="1A1F26"/>
                </a:solidFill>
                <a:latin typeface="Calibri"/>
                <a:ea typeface="Calibri"/>
                <a:cs typeface="Calibri"/>
              </a:rPr>
              <a:t>Protocol Pasini lặp lại được trên data/10: Table 4 trùng, ER ~99%, RQ3 &gt;96%, RR≈0 (Oracle DOM).</a:t>
            </a:r>
          </a:p>
        </p:txBody>
      </p:sp>
      <p:sp>
        <p:nvSpPr>
          <p:cNvPr id="10" name="Rounded Rectangle 9"/>
          <p:cNvSpPr/>
          <p:nvPr/>
        </p:nvSpPr>
        <p:spPr>
          <a:xfrm>
            <a:off x="411480" y="1847088"/>
            <a:ext cx="11338560" cy="658368"/>
          </a:xfrm>
          <a:prstGeom prst="roundRect">
            <a:avLst>
              <a:gd name="adj" fmla="val 6000"/>
            </a:avLst>
          </a:prstGeom>
          <a:solidFill>
            <a:srgbClr val="FFFFFF"/>
          </a:solidFill>
          <a:ln w="12700">
            <a:solidFill>
              <a:srgbClr val="D4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920240"/>
            <a:ext cx="411480" cy="502920"/>
          </a:xfrm>
          <a:prstGeom prst="rect">
            <a:avLst/>
          </a:prstGeom>
          <a:noFill/>
        </p:spPr>
        <p:txBody>
          <a:bodyPr wrap="square" lIns="36576" rIns="36576" tIns="25603" bIns="18288" anchor="ctr"/>
          <a:lstStyle/>
          <a:p>
            <a:pPr algn="l">
              <a:spcBef>
                <a:spcPts val="0"/>
              </a:spcBef>
              <a:spcAft>
                <a:spcPts val="0"/>
              </a:spcAft>
            </a:pPr>
            <a:r>
              <a:rPr sz="2000" b="1" i="0">
                <a:solidFill>
                  <a:srgbClr val="C47E12"/>
                </a:solidFill>
                <a:latin typeface="Calibri"/>
                <a:ea typeface="Calibri"/>
                <a:cs typeface="Calibri"/>
              </a:rPr>
              <a:t>2</a:t>
            </a:r>
          </a:p>
        </p:txBody>
      </p:sp>
      <p:sp>
        <p:nvSpPr>
          <p:cNvPr id="12" name="TextBox 11"/>
          <p:cNvSpPr txBox="1"/>
          <p:nvPr/>
        </p:nvSpPr>
        <p:spPr>
          <a:xfrm>
            <a:off x="1051560" y="1920240"/>
            <a:ext cx="10515600" cy="502920"/>
          </a:xfrm>
          <a:prstGeom prst="rect">
            <a:avLst/>
          </a:prstGeom>
          <a:noFill/>
        </p:spPr>
        <p:txBody>
          <a:bodyPr wrap="square" lIns="36576" rIns="36576" tIns="25603" bIns="18288" anchor="ctr"/>
          <a:lstStyle/>
          <a:p>
            <a:pPr algn="l">
              <a:spcBef>
                <a:spcPts val="0"/>
              </a:spcBef>
              <a:spcAft>
                <a:spcPts val="0"/>
              </a:spcAft>
            </a:pPr>
            <a:r>
              <a:rPr sz="1500" b="0" i="0">
                <a:solidFill>
                  <a:srgbClr val="1A1F26"/>
                </a:solidFill>
                <a:latin typeface="Calibri"/>
                <a:ea typeface="Calibri"/>
                <a:cs typeface="Calibri"/>
              </a:rPr>
              <a:t>99% là TH2 (OOV/None + LabelEncoder từng mẫu), không phải XSS còn chạy JavaScript.</a:t>
            </a:r>
          </a:p>
        </p:txBody>
      </p:sp>
      <p:sp>
        <p:nvSpPr>
          <p:cNvPr id="13" name="Rounded Rectangle 12"/>
          <p:cNvSpPr/>
          <p:nvPr/>
        </p:nvSpPr>
        <p:spPr>
          <a:xfrm>
            <a:off x="411480" y="2578608"/>
            <a:ext cx="11338560" cy="658368"/>
          </a:xfrm>
          <a:prstGeom prst="roundRect">
            <a:avLst>
              <a:gd name="adj" fmla="val 6000"/>
            </a:avLst>
          </a:prstGeom>
          <a:solidFill>
            <a:srgbClr val="FFFFFF"/>
          </a:solidFill>
          <a:ln w="12700">
            <a:solidFill>
              <a:srgbClr val="D4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0352" y="2651760"/>
            <a:ext cx="411480" cy="502920"/>
          </a:xfrm>
          <a:prstGeom prst="rect">
            <a:avLst/>
          </a:prstGeom>
          <a:noFill/>
        </p:spPr>
        <p:txBody>
          <a:bodyPr wrap="square" lIns="36576" rIns="36576" tIns="25603" bIns="18288" anchor="ctr"/>
          <a:lstStyle/>
          <a:p>
            <a:pPr algn="l">
              <a:spcBef>
                <a:spcPts val="0"/>
              </a:spcBef>
              <a:spcAft>
                <a:spcPts val="0"/>
              </a:spcAft>
            </a:pPr>
            <a:r>
              <a:rPr sz="2000" b="1" i="0">
                <a:solidFill>
                  <a:srgbClr val="C47E12"/>
                </a:solidFill>
                <a:latin typeface="Calibri"/>
                <a:ea typeface="Calibri"/>
                <a:cs typeface="Calibri"/>
              </a:rPr>
              <a:t>3</a:t>
            </a:r>
          </a:p>
        </p:txBody>
      </p:sp>
      <p:sp>
        <p:nvSpPr>
          <p:cNvPr id="15" name="TextBox 14"/>
          <p:cNvSpPr txBox="1"/>
          <p:nvPr/>
        </p:nvSpPr>
        <p:spPr>
          <a:xfrm>
            <a:off x="1051560" y="2651760"/>
            <a:ext cx="10515600" cy="502920"/>
          </a:xfrm>
          <a:prstGeom prst="rect">
            <a:avLst/>
          </a:prstGeom>
          <a:noFill/>
        </p:spPr>
        <p:txBody>
          <a:bodyPr wrap="square" lIns="36576" rIns="36576" tIns="25603" bIns="18288" anchor="ctr"/>
          <a:lstStyle/>
          <a:p>
            <a:pPr algn="l">
              <a:spcBef>
                <a:spcPts val="0"/>
              </a:spcBef>
              <a:spcAft>
                <a:spcPts val="0"/>
              </a:spcAft>
            </a:pPr>
            <a:r>
              <a:rPr sz="1500" b="0" i="0">
                <a:solidFill>
                  <a:srgbClr val="1A1F26"/>
                </a:solidFill>
                <a:latin typeface="Calibri"/>
                <a:ea typeface="Calibri"/>
                <a:cs typeface="Calibri"/>
              </a:rPr>
              <a:t>Khép token-id + Oracle JS: PPO 0,75% → 0,25% (sàn FN); Dueling DQN 1,08%; RR=0.</a:t>
            </a:r>
          </a:p>
        </p:txBody>
      </p:sp>
      <p:sp>
        <p:nvSpPr>
          <p:cNvPr id="16" name="Rounded Rectangle 15"/>
          <p:cNvSpPr/>
          <p:nvPr/>
        </p:nvSpPr>
        <p:spPr>
          <a:xfrm>
            <a:off x="411480" y="3310128"/>
            <a:ext cx="11338560" cy="658368"/>
          </a:xfrm>
          <a:prstGeom prst="roundRect">
            <a:avLst>
              <a:gd name="adj" fmla="val 6000"/>
            </a:avLst>
          </a:prstGeom>
          <a:solidFill>
            <a:srgbClr val="FFFFFF"/>
          </a:solidFill>
          <a:ln w="12700">
            <a:solidFill>
              <a:srgbClr val="D4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3383280"/>
            <a:ext cx="411480" cy="502920"/>
          </a:xfrm>
          <a:prstGeom prst="rect">
            <a:avLst/>
          </a:prstGeom>
          <a:noFill/>
        </p:spPr>
        <p:txBody>
          <a:bodyPr wrap="square" lIns="36576" rIns="36576" tIns="25603" bIns="18288" anchor="ctr"/>
          <a:lstStyle/>
          <a:p>
            <a:pPr algn="l">
              <a:spcBef>
                <a:spcPts val="0"/>
              </a:spcBef>
              <a:spcAft>
                <a:spcPts val="0"/>
              </a:spcAft>
            </a:pPr>
            <a:r>
              <a:rPr sz="2000" b="1" i="0">
                <a:solidFill>
                  <a:srgbClr val="C47E12"/>
                </a:solidFill>
                <a:latin typeface="Calibri"/>
                <a:ea typeface="Calibri"/>
                <a:cs typeface="Calibri"/>
              </a:rPr>
              <a:t>4</a:t>
            </a:r>
          </a:p>
        </p:txBody>
      </p:sp>
      <p:sp>
        <p:nvSpPr>
          <p:cNvPr id="18" name="TextBox 17"/>
          <p:cNvSpPr txBox="1"/>
          <p:nvPr/>
        </p:nvSpPr>
        <p:spPr>
          <a:xfrm>
            <a:off x="1051560" y="3383280"/>
            <a:ext cx="10515600" cy="502920"/>
          </a:xfrm>
          <a:prstGeom prst="rect">
            <a:avLst/>
          </a:prstGeom>
          <a:noFill/>
        </p:spPr>
        <p:txBody>
          <a:bodyPr wrap="square" lIns="36576" rIns="36576" tIns="25603" bIns="18288" anchor="ctr"/>
          <a:lstStyle/>
          <a:p>
            <a:pPr algn="l">
              <a:spcBef>
                <a:spcPts val="0"/>
              </a:spcBef>
              <a:spcAft>
                <a:spcPts val="0"/>
              </a:spcAft>
            </a:pPr>
            <a:r>
              <a:rPr sz="1500" b="0" i="0">
                <a:solidFill>
                  <a:srgbClr val="1A1F26"/>
                </a:solidFill>
                <a:latin typeface="Calibri"/>
                <a:ea typeface="Calibri"/>
                <a:cs typeface="Calibri"/>
              </a:rPr>
              <a:t>Mẫu PPO / catalog Table 2 trên CRS 4 lab: TASR=0. DOMPurify: Δ=1 (lọt HTTP, hết độc).</a:t>
            </a:r>
          </a:p>
        </p:txBody>
      </p:sp>
      <p:sp>
        <p:nvSpPr>
          <p:cNvPr id="19" name="Rounded Rectangle 18"/>
          <p:cNvSpPr/>
          <p:nvPr/>
        </p:nvSpPr>
        <p:spPr>
          <a:xfrm>
            <a:off x="411480" y="4041648"/>
            <a:ext cx="11338560" cy="658368"/>
          </a:xfrm>
          <a:prstGeom prst="roundRect">
            <a:avLst>
              <a:gd name="adj" fmla="val 6000"/>
            </a:avLst>
          </a:prstGeom>
          <a:solidFill>
            <a:srgbClr val="FFFFFF"/>
          </a:solidFill>
          <a:ln w="12700">
            <a:solidFill>
              <a:srgbClr val="D4D0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4114800"/>
            <a:ext cx="411480" cy="502920"/>
          </a:xfrm>
          <a:prstGeom prst="rect">
            <a:avLst/>
          </a:prstGeom>
          <a:noFill/>
        </p:spPr>
        <p:txBody>
          <a:bodyPr wrap="square" lIns="36576" rIns="36576" tIns="25603" bIns="18288" anchor="ctr"/>
          <a:lstStyle/>
          <a:p>
            <a:pPr algn="l">
              <a:spcBef>
                <a:spcPts val="0"/>
              </a:spcBef>
              <a:spcAft>
                <a:spcPts val="0"/>
              </a:spcAft>
            </a:pPr>
            <a:r>
              <a:rPr sz="2000" b="1" i="0">
                <a:solidFill>
                  <a:srgbClr val="C47E12"/>
                </a:solidFill>
                <a:latin typeface="Calibri"/>
                <a:ea typeface="Calibri"/>
                <a:cs typeface="Calibri"/>
              </a:rPr>
              <a:t>5</a:t>
            </a:r>
          </a:p>
        </p:txBody>
      </p:sp>
      <p:sp>
        <p:nvSpPr>
          <p:cNvPr id="21" name="TextBox 20"/>
          <p:cNvSpPr txBox="1"/>
          <p:nvPr/>
        </p:nvSpPr>
        <p:spPr>
          <a:xfrm>
            <a:off x="1051560" y="4114800"/>
            <a:ext cx="10515600" cy="502920"/>
          </a:xfrm>
          <a:prstGeom prst="rect">
            <a:avLst/>
          </a:prstGeom>
          <a:noFill/>
        </p:spPr>
        <p:txBody>
          <a:bodyPr wrap="square" lIns="36576" rIns="36576" tIns="25603" bIns="18288" anchor="ctr"/>
          <a:lstStyle/>
          <a:p>
            <a:pPr algn="l">
              <a:spcBef>
                <a:spcPts val="0"/>
              </a:spcBef>
              <a:spcAft>
                <a:spcPts val="0"/>
              </a:spcAft>
            </a:pPr>
            <a:r>
              <a:rPr sz="1500" b="0" i="0">
                <a:solidFill>
                  <a:srgbClr val="1A1F26"/>
                </a:solidFill>
                <a:latin typeface="Calibri"/>
                <a:ea typeface="Calibri"/>
                <a:cs typeface="Calibri"/>
              </a:rPr>
              <a:t>23,4% nhãn Malicious Mereani chỉ đổi DOM — Oracle paper ≠ XSS thực thi.</a:t>
            </a:r>
          </a:p>
        </p:txBody>
      </p:sp>
      <p:sp>
        <p:nvSpPr>
          <p:cNvPr id="22" name="TextBox 21"/>
          <p:cNvSpPr txBox="1"/>
          <p:nvPr/>
        </p:nvSpPr>
        <p:spPr>
          <a:xfrm>
            <a:off x="411480" y="4892040"/>
            <a:ext cx="11338560" cy="320040"/>
          </a:xfrm>
          <a:prstGeom prst="rect">
            <a:avLst/>
          </a:prstGeom>
          <a:noFill/>
        </p:spPr>
        <p:txBody>
          <a:bodyPr wrap="square" lIns="36576" rIns="36576" tIns="25603" bIns="18288" anchor="t"/>
          <a:lstStyle/>
          <a:p>
            <a:pPr algn="l">
              <a:spcBef>
                <a:spcPts val="0"/>
              </a:spcBef>
              <a:spcAft>
                <a:spcPts val="0"/>
              </a:spcAft>
            </a:pPr>
            <a:r>
              <a:rPr sz="1300" b="1" i="0">
                <a:solidFill>
                  <a:srgbClr val="0E2744"/>
                </a:solidFill>
                <a:latin typeface="Calibri"/>
                <a:ea typeface="Calibri"/>
                <a:cs typeface="Calibri"/>
              </a:rPr>
              <a:t>Hạn chế (nói trước khi bị hỏi)</a:t>
            </a:r>
          </a:p>
        </p:txBody>
      </p:sp>
      <p:sp>
        <p:nvSpPr>
          <p:cNvPr id="23" name="TextBox 22"/>
          <p:cNvSpPr txBox="1"/>
          <p:nvPr/>
        </p:nvSpPr>
        <p:spPr>
          <a:xfrm>
            <a:off x="411480" y="5212080"/>
            <a:ext cx="11338560" cy="1097280"/>
          </a:xfrm>
          <a:prstGeom prst="rect">
            <a:avLst/>
          </a:prstGeom>
          <a:noFill/>
        </p:spPr>
        <p:txBody>
          <a:bodyPr wrap="square" lIns="54864" rIns="54864" tIns="38404" bIns="27432"/>
          <a:lstStyle/>
          <a:p>
            <a:pPr algn="l">
              <a:spcBef>
                <a:spcPts val="0"/>
              </a:spcBef>
              <a:spcAft>
                <a:spcPts val="0"/>
              </a:spcAft>
            </a:pPr>
            <a:r>
              <a:rPr sz="1400" b="0" i="0">
                <a:solidFill>
                  <a:srgbClr val="5A6570"/>
                </a:solidFill>
                <a:latin typeface="Calibri"/>
                <a:ea typeface="Calibri"/>
                <a:cs typeface="Calibri"/>
              </a:rPr>
              <a:t>JSDOM ≠ mọi trình duyệt (có Playwright hold-out 4 seed).  RQ3 10 seed chưa đủ 3 mạng — seed 42 đủ Table 4 + RQ3.  Mereani 2018, chủ yếu alert/&lt;script&gt;.  CRS lab ≠ WAF thương mại.  Wilcoxon n=2 không pretent p.</a:t>
            </a:r>
          </a:p>
        </p:txBody>
      </p:sp>
      <p:sp>
        <p:nvSpPr>
          <p:cNvPr id="24" name="Rectangle 23"/>
          <p:cNvSpPr/>
          <p:nvPr/>
        </p:nvSpPr>
        <p:spPr>
          <a:xfrm>
            <a:off x="0" y="6565392"/>
            <a:ext cx="12191695" cy="29260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6565392"/>
            <a:ext cx="8686800" cy="292608"/>
          </a:xfrm>
          <a:prstGeom prst="rect">
            <a:avLst/>
          </a:prstGeom>
          <a:noFill/>
        </p:spPr>
        <p:txBody>
          <a:bodyPr wrap="square" lIns="36576" rIns="36576" tIns="25603" bIns="18288" anchor="ctr"/>
          <a:lstStyle/>
          <a:p>
            <a:pPr algn="l">
              <a:spcBef>
                <a:spcPts val="0"/>
              </a:spcBef>
              <a:spcAft>
                <a:spcPts val="0"/>
              </a:spcAft>
            </a:pPr>
            <a:r>
              <a:rPr sz="1100" b="0" i="0">
                <a:solidFill>
                  <a:srgbClr val="FFFFFF"/>
                </a:solidFill>
                <a:latin typeface="Calibri"/>
                <a:ea typeface="Calibri"/>
                <a:cs typeface="Calibri"/>
              </a:rPr>
              <a:t>ATBMHTTT  ·  Không trộn nhánh A (~99%) với nhánh B (~1%)  ·  TASR = HTTP 200 VÀ JS chạy</a:t>
            </a:r>
          </a:p>
        </p:txBody>
      </p:sp>
      <p:sp>
        <p:nvSpPr>
          <p:cNvPr id="26" name="TextBox 25"/>
          <p:cNvSpPr txBox="1"/>
          <p:nvPr/>
        </p:nvSpPr>
        <p:spPr>
          <a:xfrm>
            <a:off x="10515600" y="6565392"/>
            <a:ext cx="1371600" cy="292608"/>
          </a:xfrm>
          <a:prstGeom prst="rect">
            <a:avLst/>
          </a:prstGeom>
          <a:noFill/>
        </p:spPr>
        <p:txBody>
          <a:bodyPr wrap="square" lIns="36576" rIns="36576" tIns="25603" bIns="18288" anchor="ctr"/>
          <a:lstStyle/>
          <a:p>
            <a:pPr algn="r">
              <a:spcBef>
                <a:spcPts val="0"/>
              </a:spcBef>
              <a:spcAft>
                <a:spcPts val="0"/>
              </a:spcAft>
            </a:pPr>
            <a:r>
              <a:rPr sz="1100" b="0" i="0">
                <a:solidFill>
                  <a:srgbClr val="FFFFFF"/>
                </a:solidFill>
                <a:latin typeface="Calibri"/>
                <a:ea typeface="Calibri"/>
                <a:cs typeface="Calibri"/>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C47E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695" cy="84124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6304"/>
            <a:ext cx="11338560" cy="256032"/>
          </a:xfrm>
          <a:prstGeom prst="rect">
            <a:avLst/>
          </a:prstGeom>
          <a:noFill/>
        </p:spPr>
        <p:txBody>
          <a:bodyPr wrap="square" lIns="36576" rIns="36576" tIns="25603" bIns="18288" anchor="ctr"/>
          <a:lstStyle/>
          <a:p>
            <a:pPr algn="l">
              <a:spcBef>
                <a:spcPts val="0"/>
              </a:spcBef>
              <a:spcAft>
                <a:spcPts val="0"/>
              </a:spcAft>
            </a:pPr>
            <a:r>
              <a:rPr sz="1100" b="0" i="0">
                <a:solidFill>
                  <a:srgbClr val="C47E12"/>
                </a:solidFill>
                <a:latin typeface="Calibri"/>
                <a:ea typeface="Calibri"/>
                <a:cs typeface="Calibri"/>
              </a:rPr>
              <a:t>HỎI ĐÁP</a:t>
            </a:r>
          </a:p>
        </p:txBody>
      </p:sp>
      <p:sp>
        <p:nvSpPr>
          <p:cNvPr id="6" name="TextBox 5"/>
          <p:cNvSpPr txBox="1"/>
          <p:nvPr/>
        </p:nvSpPr>
        <p:spPr>
          <a:xfrm>
            <a:off x="411480" y="384048"/>
            <a:ext cx="11338560" cy="475488"/>
          </a:xfrm>
          <a:prstGeom prst="rect">
            <a:avLst/>
          </a:prstGeom>
          <a:noFill/>
        </p:spPr>
        <p:txBody>
          <a:bodyPr wrap="square" lIns="36576" rIns="36576" tIns="25603" bIns="18288" anchor="ctr"/>
          <a:lstStyle/>
          <a:p>
            <a:pPr algn="l">
              <a:spcBef>
                <a:spcPts val="0"/>
              </a:spcBef>
              <a:spcAft>
                <a:spcPts val="0"/>
              </a:spcAft>
            </a:pPr>
            <a:r>
              <a:rPr sz="2600" b="1" i="0">
                <a:solidFill>
                  <a:srgbClr val="FFFFFF"/>
                </a:solidFill>
                <a:latin typeface="Calibri"/>
                <a:ea typeface="Calibri"/>
                <a:cs typeface="Calibri"/>
              </a:rPr>
              <a:t>Câu được nói  ·  câu không nói</a:t>
            </a:r>
          </a:p>
        </p:txBody>
      </p:sp>
      <p:graphicFrame>
        <p:nvGraphicFramePr>
          <p:cNvPr id="7" name="Table 6"/>
          <p:cNvGraphicFramePr>
            <a:graphicFrameLocks noGrp="1"/>
          </p:cNvGraphicFramePr>
          <p:nvPr/>
        </p:nvGraphicFramePr>
        <p:xfrm>
          <a:off x="411480" y="1115568"/>
          <a:ext cx="11338560" cy="2606040"/>
        </p:xfrm>
        <a:graphic>
          <a:graphicData uri="http://schemas.openxmlformats.org/drawingml/2006/table">
            <a:tbl>
              <a:tblPr firstRow="1" bandRow="1">
                <a:tableStyleId>{5C22544A-7EE6-4342-B048-85BDC9FD1C3A}</a:tableStyleId>
              </a:tblPr>
              <a:tblGrid>
                <a:gridCol w="3017520"/>
                <a:gridCol w="8321040"/>
              </a:tblGrid>
              <a:tr h="434340">
                <a:tc>
                  <a:txBody>
                    <a:bodyPr wrap="square"/>
                    <a:lstStyle/>
                    <a:p>
                      <a:pPr algn="l">
                        <a:spcBef>
                          <a:spcPts val="0"/>
                        </a:spcBef>
                        <a:spcAft>
                          <a:spcPts val="0"/>
                        </a:spcAft>
                      </a:pPr>
                      <a:r>
                        <a:rPr sz="1300" b="1" i="0">
                          <a:solidFill>
                            <a:srgbClr val="FFFFFF"/>
                          </a:solidFill>
                          <a:latin typeface="Calibri"/>
                          <a:ea typeface="Calibri"/>
                          <a:cs typeface="Calibri"/>
                        </a:rPr>
                        <a:t>Họ hỏi</a:t>
                      </a:r>
                    </a:p>
                  </a:txBody>
                  <a:tcPr anchor="ctr">
                    <a:solidFill>
                      <a:srgbClr val="0E2744"/>
                    </a:solidFill>
                  </a:tcPr>
                </a:tc>
                <a:tc>
                  <a:txBody>
                    <a:bodyPr wrap="square"/>
                    <a:lstStyle/>
                    <a:p>
                      <a:pPr algn="ctr">
                        <a:spcBef>
                          <a:spcPts val="0"/>
                        </a:spcBef>
                        <a:spcAft>
                          <a:spcPts val="0"/>
                        </a:spcAft>
                      </a:pPr>
                      <a:r>
                        <a:rPr sz="1300" b="1" i="0">
                          <a:solidFill>
                            <a:srgbClr val="FFFFFF"/>
                          </a:solidFill>
                          <a:latin typeface="Calibri"/>
                          <a:ea typeface="Calibri"/>
                          <a:cs typeface="Calibri"/>
                        </a:rPr>
                        <a:t>Trả lời</a:t>
                      </a:r>
                    </a:p>
                  </a:txBody>
                  <a:tcPr anchor="ctr">
                    <a:solidFill>
                      <a:srgbClr val="0E2744"/>
                    </a:solidFill>
                  </a:tcPr>
                </a:tc>
              </a:tr>
              <a:tr h="434340">
                <a:tc>
                  <a:txBody>
                    <a:bodyPr wrap="square"/>
                    <a:lstStyle/>
                    <a:p>
                      <a:pPr algn="l">
                        <a:spcBef>
                          <a:spcPts val="0"/>
                        </a:spcBef>
                        <a:spcAft>
                          <a:spcPts val="0"/>
                        </a:spcAft>
                      </a:pPr>
                      <a:r>
                        <a:rPr sz="1300" b="1" i="0">
                          <a:solidFill>
                            <a:srgbClr val="1A1F26"/>
                          </a:solidFill>
                          <a:latin typeface="Calibri"/>
                          <a:ea typeface="Calibri"/>
                          <a:cs typeface="Calibri"/>
                        </a:rPr>
                        <a:t>Sao không 99%?</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Nhánh B khép LabelEncoder. Nhánh A vẫn ~99% trên data/10.</a:t>
                      </a:r>
                    </a:p>
                  </a:txBody>
                  <a:tcPr anchor="ctr">
                    <a:solidFill>
                      <a:srgbClr val="FFFFFF"/>
                    </a:solidFill>
                  </a:tcPr>
                </a:tc>
              </a:tr>
              <a:tr h="434340">
                <a:tc>
                  <a:txBody>
                    <a:bodyPr wrap="square"/>
                    <a:lstStyle/>
                    <a:p>
                      <a:pPr algn="l">
                        <a:spcBef>
                          <a:spcPts val="0"/>
                        </a:spcBef>
                        <a:spcAft>
                          <a:spcPts val="0"/>
                        </a:spcAft>
                      </a:pPr>
                      <a:r>
                        <a:rPr sz="1300" b="1" i="0">
                          <a:solidFill>
                            <a:srgbClr val="1A1F26"/>
                          </a:solidFill>
                          <a:latin typeface="Calibri"/>
                          <a:ea typeface="Calibri"/>
                          <a:cs typeface="Calibri"/>
                        </a:rPr>
                        <a:t>Replication Chen?</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Protocol replication, PPO không SAC, Mereani không 90k.</a:t>
                      </a:r>
                    </a:p>
                  </a:txBody>
                  <a:tcPr anchor="ctr">
                    <a:solidFill>
                      <a:srgbClr val="EEF2F6"/>
                    </a:solidFill>
                  </a:tcPr>
                </a:tc>
              </a:tr>
              <a:tr h="434340">
                <a:tc>
                  <a:txBody>
                    <a:bodyPr wrap="square"/>
                    <a:lstStyle/>
                    <a:p>
                      <a:pPr algn="l">
                        <a:spcBef>
                          <a:spcPts val="0"/>
                        </a:spcBef>
                        <a:spcAft>
                          <a:spcPts val="0"/>
                        </a:spcAft>
                      </a:pPr>
                      <a:r>
                        <a:rPr sz="1300" b="1" i="0">
                          <a:solidFill>
                            <a:srgbClr val="1A1F26"/>
                          </a:solidFill>
                          <a:latin typeface="Calibri"/>
                          <a:ea typeface="Calibri"/>
                          <a:cs typeface="Calibri"/>
                        </a:rPr>
                        <a:t>Bypass CRS / WAF?</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Không. TASR lab = 0. Không đánh cloud.</a:t>
                      </a:r>
                    </a:p>
                  </a:txBody>
                  <a:tcPr anchor="ctr">
                    <a:solidFill>
                      <a:srgbClr val="FFFFFF"/>
                    </a:solidFill>
                  </a:tcPr>
                </a:tc>
              </a:tr>
              <a:tr h="434340">
                <a:tc>
                  <a:txBody>
                    <a:bodyPr wrap="square"/>
                    <a:lstStyle/>
                    <a:p>
                      <a:pPr algn="l">
                        <a:spcBef>
                          <a:spcPts val="0"/>
                        </a:spcBef>
                        <a:spcAft>
                          <a:spcPts val="0"/>
                        </a:spcAft>
                      </a:pPr>
                      <a:r>
                        <a:rPr sz="1300" b="1" i="0">
                          <a:solidFill>
                            <a:srgbClr val="1A1F26"/>
                          </a:solidFill>
                          <a:latin typeface="Calibri"/>
                          <a:ea typeface="Calibri"/>
                          <a:cs typeface="Calibri"/>
                        </a:rPr>
                        <a:t>10 seed?</a:t>
                      </a:r>
                    </a:p>
                  </a:txBody>
                  <a:tcPr anchor="ctr">
                    <a:solidFill>
                      <a:srgbClr val="EEF2F6"/>
                    </a:solidFill>
                  </a:tcPr>
                </a:tc>
                <a:tc>
                  <a:txBody>
                    <a:bodyPr wrap="square"/>
                    <a:lstStyle/>
                    <a:p>
                      <a:pPr algn="ctr">
                        <a:spcBef>
                          <a:spcPts val="0"/>
                        </a:spcBef>
                        <a:spcAft>
                          <a:spcPts val="0"/>
                        </a:spcAft>
                      </a:pPr>
                      <a:r>
                        <a:rPr sz="1300" b="0" i="0">
                          <a:solidFill>
                            <a:srgbClr val="1A1F26"/>
                          </a:solidFill>
                          <a:latin typeface="Calibri"/>
                          <a:ea typeface="Calibri"/>
                          <a:cs typeface="Calibri"/>
                        </a:rPr>
                        <a:t>Paper 10. Seed 42 đủ Table 4 + RQ3 3 mạng. LSTM không Oracle đã 10 seed.</a:t>
                      </a:r>
                    </a:p>
                  </a:txBody>
                  <a:tcPr anchor="ctr">
                    <a:solidFill>
                      <a:srgbClr val="EEF2F6"/>
                    </a:solidFill>
                  </a:tcPr>
                </a:tc>
              </a:tr>
              <a:tr h="434340">
                <a:tc>
                  <a:txBody>
                    <a:bodyPr wrap="square"/>
                    <a:lstStyle/>
                    <a:p>
                      <a:pPr algn="l">
                        <a:spcBef>
                          <a:spcPts val="0"/>
                        </a:spcBef>
                        <a:spcAft>
                          <a:spcPts val="0"/>
                        </a:spcAft>
                      </a:pPr>
                      <a:r>
                        <a:rPr sz="1300" b="1" i="0">
                          <a:solidFill>
                            <a:srgbClr val="1A1F26"/>
                          </a:solidFill>
                          <a:latin typeface="Calibri"/>
                          <a:ea typeface="Calibri"/>
                          <a:cs typeface="Calibri"/>
                        </a:rPr>
                        <a:t>HTTP 200 là thành công?</a:t>
                      </a:r>
                    </a:p>
                  </a:txBody>
                  <a:tcPr anchor="ctr">
                    <a:solidFill>
                      <a:srgbClr val="FFFFFF"/>
                    </a:solidFill>
                  </a:tcPr>
                </a:tc>
                <a:tc>
                  <a:txBody>
                    <a:bodyPr wrap="square"/>
                    <a:lstStyle/>
                    <a:p>
                      <a:pPr algn="ctr">
                        <a:spcBef>
                          <a:spcPts val="0"/>
                        </a:spcBef>
                        <a:spcAft>
                          <a:spcPts val="0"/>
                        </a:spcAft>
                      </a:pPr>
                      <a:r>
                        <a:rPr sz="1300" b="0" i="0">
                          <a:solidFill>
                            <a:srgbClr val="1A1F26"/>
                          </a:solidFill>
                          <a:latin typeface="Calibri"/>
                          <a:ea typeface="Calibri"/>
                          <a:cs typeface="Calibri"/>
                        </a:rPr>
                        <a:t>Không. Cần BYPASS_EXEC (200 và JS chạy) mới ra TASR.</a:t>
                      </a:r>
                    </a:p>
                  </a:txBody>
                  <a:tcPr anchor="ctr">
                    <a:solidFill>
                      <a:srgbClr val="FFFFFF"/>
                    </a:solidFill>
                  </a:tcPr>
                </a:tc>
              </a:tr>
            </a:tbl>
          </a:graphicData>
        </a:graphic>
      </p:graphicFrame>
      <p:sp>
        <p:nvSpPr>
          <p:cNvPr id="8" name="Rounded Rectangle 7"/>
          <p:cNvSpPr/>
          <p:nvPr/>
        </p:nvSpPr>
        <p:spPr>
          <a:xfrm>
            <a:off x="411480" y="3886200"/>
            <a:ext cx="5532120" cy="2331720"/>
          </a:xfrm>
          <a:prstGeom prst="roundRect">
            <a:avLst>
              <a:gd name="adj" fmla="val 6000"/>
            </a:avLst>
          </a:prstGeom>
          <a:solidFill>
            <a:srgbClr val="E7F2EA"/>
          </a:solidFill>
          <a:ln w="12700">
            <a:solidFill>
              <a:srgbClr val="1F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977639"/>
            <a:ext cx="5303520" cy="2148840"/>
          </a:xfrm>
          <a:prstGeom prst="rect">
            <a:avLst/>
          </a:prstGeom>
          <a:noFill/>
        </p:spPr>
        <p:txBody>
          <a:bodyPr wrap="square" lIns="54864" rIns="54864" tIns="38404" bIns="27432"/>
          <a:lstStyle/>
          <a:p>
            <a:pPr algn="l">
              <a:spcBef>
                <a:spcPts val="0"/>
              </a:spcBef>
              <a:spcAft>
                <a:spcPts val="0"/>
              </a:spcAft>
            </a:pPr>
            <a:r>
              <a:rPr sz="1500" b="1" i="0">
                <a:solidFill>
                  <a:srgbClr val="1F6B4A"/>
                </a:solidFill>
                <a:latin typeface="Calibri"/>
                <a:ea typeface="Calibri"/>
                <a:cs typeface="Calibri"/>
              </a:rPr>
              <a:t>Được viết / nói</a:t>
            </a:r>
          </a:p>
          <a:p>
            <a:pPr algn="l">
              <a:spcBef>
                <a:spcPts val="300"/>
              </a:spcBef>
              <a:spcAft>
                <a:spcPts val="0"/>
              </a:spcAft>
            </a:pPr>
            <a:r>
              <a:rPr sz="1400" b="0" i="0">
                <a:solidFill>
                  <a:srgbClr val="1A1F26"/>
                </a:solidFill>
                <a:latin typeface="Calibri"/>
                <a:ea typeface="Calibri"/>
                <a:cs typeface="Calibri"/>
              </a:rPr>
              <a:t>Khung Pasini: Oracle → RR → Oracle-in-loop</a:t>
            </a:r>
          </a:p>
          <a:p>
            <a:pPr algn="l">
              <a:spcBef>
                <a:spcPts val="300"/>
              </a:spcBef>
              <a:spcAft>
                <a:spcPts val="0"/>
              </a:spcAft>
            </a:pPr>
            <a:r>
              <a:rPr sz="1400" b="0" i="0">
                <a:solidFill>
                  <a:srgbClr val="1A1F26"/>
                </a:solidFill>
                <a:latin typeface="Calibri"/>
                <a:ea typeface="Calibri"/>
                <a:cs typeface="Calibri"/>
              </a:rPr>
              <a:t>23,4% Mereani chỉ đổi DOM</a:t>
            </a:r>
          </a:p>
          <a:p>
            <a:pPr algn="l">
              <a:spcBef>
                <a:spcPts val="300"/>
              </a:spcBef>
              <a:spcAft>
                <a:spcPts val="0"/>
              </a:spcAft>
            </a:pPr>
            <a:r>
              <a:rPr sz="1400" b="0" i="0">
                <a:solidFill>
                  <a:srgbClr val="1A1F26"/>
                </a:solidFill>
                <a:latin typeface="Calibri"/>
                <a:ea typeface="Calibri"/>
                <a:cs typeface="Calibri"/>
              </a:rPr>
              <a:t>Artifact tái lập ER ~99% (TH2)</a:t>
            </a:r>
          </a:p>
          <a:p>
            <a:pPr algn="l">
              <a:spcBef>
                <a:spcPts val="300"/>
              </a:spcBef>
              <a:spcAft>
                <a:spcPts val="0"/>
              </a:spcAft>
            </a:pPr>
            <a:r>
              <a:rPr sz="1400" b="0" i="0">
                <a:solidFill>
                  <a:srgbClr val="1A1F26"/>
                </a:solidFill>
                <a:latin typeface="Calibri"/>
                <a:ea typeface="Calibri"/>
                <a:cs typeface="Calibri"/>
              </a:rPr>
              <a:t>Khép encode → ER ~1%</a:t>
            </a:r>
          </a:p>
          <a:p>
            <a:pPr algn="l">
              <a:spcBef>
                <a:spcPts val="300"/>
              </a:spcBef>
              <a:spcAft>
                <a:spcPts val="0"/>
              </a:spcAft>
            </a:pPr>
            <a:r>
              <a:rPr sz="1400" b="0" i="0">
                <a:solidFill>
                  <a:srgbClr val="1A1F26"/>
                </a:solidFill>
                <a:latin typeface="Calibri"/>
                <a:ea typeface="Calibri"/>
                <a:cs typeface="Calibri"/>
              </a:rPr>
              <a:t>CRS lab TASR = 0  ·  Purify Δ = 1</a:t>
            </a:r>
          </a:p>
        </p:txBody>
      </p:sp>
      <p:sp>
        <p:nvSpPr>
          <p:cNvPr id="10" name="Rounded Rectangle 9"/>
          <p:cNvSpPr/>
          <p:nvPr/>
        </p:nvSpPr>
        <p:spPr>
          <a:xfrm>
            <a:off x="6172200" y="3886200"/>
            <a:ext cx="5577840" cy="2331720"/>
          </a:xfrm>
          <a:prstGeom prst="roundRect">
            <a:avLst>
              <a:gd name="adj" fmla="val 6000"/>
            </a:avLst>
          </a:prstGeom>
          <a:solidFill>
            <a:srgbClr val="F8E8E8"/>
          </a:solidFill>
          <a:ln w="12700">
            <a:solidFill>
              <a:srgbClr val="9B2C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977639"/>
            <a:ext cx="5303520" cy="2148840"/>
          </a:xfrm>
          <a:prstGeom prst="rect">
            <a:avLst/>
          </a:prstGeom>
          <a:noFill/>
        </p:spPr>
        <p:txBody>
          <a:bodyPr wrap="square" lIns="54864" rIns="54864" tIns="38404" bIns="27432"/>
          <a:lstStyle/>
          <a:p>
            <a:pPr algn="l">
              <a:spcBef>
                <a:spcPts val="0"/>
              </a:spcBef>
              <a:spcAft>
                <a:spcPts val="0"/>
              </a:spcAft>
            </a:pPr>
            <a:r>
              <a:rPr sz="1500" b="1" i="0">
                <a:solidFill>
                  <a:srgbClr val="9B2C2C"/>
                </a:solidFill>
                <a:latin typeface="Calibri"/>
                <a:ea typeface="Calibri"/>
                <a:cs typeface="Calibri"/>
              </a:rPr>
              <a:t>Cấm</a:t>
            </a:r>
          </a:p>
          <a:p>
            <a:pPr algn="l">
              <a:spcBef>
                <a:spcPts val="300"/>
              </a:spcBef>
              <a:spcAft>
                <a:spcPts val="0"/>
              </a:spcAft>
            </a:pPr>
            <a:r>
              <a:rPr sz="1400" b="0" i="0">
                <a:solidFill>
                  <a:srgbClr val="1A1F26"/>
                </a:solidFill>
                <a:latin typeface="Calibri"/>
                <a:ea typeface="Calibri"/>
                <a:cs typeface="Calibri"/>
              </a:rPr>
              <a:t>“Em reproduce Chen 99%”</a:t>
            </a:r>
          </a:p>
          <a:p>
            <a:pPr algn="l">
              <a:spcBef>
                <a:spcPts val="300"/>
              </a:spcBef>
              <a:spcAft>
                <a:spcPts val="0"/>
              </a:spcAft>
            </a:pPr>
            <a:r>
              <a:rPr sz="1400" b="0" i="0">
                <a:solidFill>
                  <a:srgbClr val="1A1F26"/>
                </a:solidFill>
                <a:latin typeface="Calibri"/>
                <a:ea typeface="Calibri"/>
                <a:cs typeface="Calibri"/>
              </a:rPr>
              <a:t>SAC  ·  PPO mạnh hơn Chen</a:t>
            </a:r>
          </a:p>
          <a:p>
            <a:pPr algn="l">
              <a:spcBef>
                <a:spcPts val="300"/>
              </a:spcBef>
              <a:spcAft>
                <a:spcPts val="0"/>
              </a:spcAft>
            </a:pPr>
            <a:r>
              <a:rPr sz="1400" b="0" i="0">
                <a:solidFill>
                  <a:srgbClr val="1A1F26"/>
                </a:solidFill>
                <a:latin typeface="Calibri"/>
                <a:ea typeface="Calibri"/>
                <a:cs typeface="Calibri"/>
              </a:rPr>
              <a:t>Bypass CRS / AWS WAF</a:t>
            </a:r>
          </a:p>
          <a:p>
            <a:pPr algn="l">
              <a:spcBef>
                <a:spcPts val="300"/>
              </a:spcBef>
              <a:spcAft>
                <a:spcPts val="0"/>
              </a:spcAft>
            </a:pPr>
            <a:r>
              <a:rPr sz="1400" b="0" i="0">
                <a:solidFill>
                  <a:srgbClr val="1A1F26"/>
                </a:solidFill>
                <a:latin typeface="Calibri"/>
                <a:ea typeface="Calibri"/>
                <a:cs typeface="Calibri"/>
              </a:rPr>
              <a:t>HTTP 200 = thành công  ·  LLM generator</a:t>
            </a:r>
          </a:p>
          <a:p>
            <a:pPr algn="l">
              <a:spcBef>
                <a:spcPts val="300"/>
              </a:spcBef>
              <a:spcAft>
                <a:spcPts val="0"/>
              </a:spcAft>
            </a:pPr>
            <a:r>
              <a:rPr sz="1400" b="0" i="0">
                <a:solidFill>
                  <a:srgbClr val="1A1F26"/>
                </a:solidFill>
                <a:latin typeface="Calibri"/>
                <a:ea typeface="Calibri"/>
                <a:cs typeface="Calibri"/>
              </a:rPr>
              <a:t>Wilcoxon p=0,5 là có ý nghĩa</a:t>
            </a:r>
          </a:p>
        </p:txBody>
      </p:sp>
      <p:sp>
        <p:nvSpPr>
          <p:cNvPr id="12" name="Rectangle 11"/>
          <p:cNvSpPr/>
          <p:nvPr/>
        </p:nvSpPr>
        <p:spPr>
          <a:xfrm>
            <a:off x="0" y="6565392"/>
            <a:ext cx="12191695" cy="292608"/>
          </a:xfrm>
          <a:prstGeom prst="rect">
            <a:avLst/>
          </a:prstGeom>
          <a:solidFill>
            <a:srgbClr val="0E2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565392"/>
            <a:ext cx="8686800" cy="292608"/>
          </a:xfrm>
          <a:prstGeom prst="rect">
            <a:avLst/>
          </a:prstGeom>
          <a:noFill/>
        </p:spPr>
        <p:txBody>
          <a:bodyPr wrap="square" lIns="36576" rIns="36576" tIns="25603" bIns="18288" anchor="ctr"/>
          <a:lstStyle/>
          <a:p>
            <a:pPr algn="l">
              <a:spcBef>
                <a:spcPts val="0"/>
              </a:spcBef>
              <a:spcAft>
                <a:spcPts val="0"/>
              </a:spcAft>
            </a:pPr>
            <a:r>
              <a:rPr sz="1100" b="0" i="0">
                <a:solidFill>
                  <a:srgbClr val="FFFFFF"/>
                </a:solidFill>
                <a:latin typeface="Calibri"/>
                <a:ea typeface="Calibri"/>
                <a:cs typeface="Calibri"/>
              </a:rPr>
              <a:t>ATBMHTTT  ·  Không trộn nhánh A (~99%) với nhánh B (~1%)  ·  TASR = HTTP 200 VÀ JS chạy</a:t>
            </a:r>
          </a:p>
        </p:txBody>
      </p:sp>
      <p:sp>
        <p:nvSpPr>
          <p:cNvPr id="14" name="TextBox 13"/>
          <p:cNvSpPr txBox="1"/>
          <p:nvPr/>
        </p:nvSpPr>
        <p:spPr>
          <a:xfrm>
            <a:off x="10515600" y="6565392"/>
            <a:ext cx="1371600" cy="292608"/>
          </a:xfrm>
          <a:prstGeom prst="rect">
            <a:avLst/>
          </a:prstGeom>
          <a:noFill/>
        </p:spPr>
        <p:txBody>
          <a:bodyPr wrap="square" lIns="36576" rIns="36576" tIns="25603" bIns="18288" anchor="ctr"/>
          <a:lstStyle/>
          <a:p>
            <a:pPr algn="r">
              <a:spcBef>
                <a:spcPts val="0"/>
              </a:spcBef>
              <a:spcAft>
                <a:spcPts val="0"/>
              </a:spcAft>
            </a:pPr>
            <a:r>
              <a:rPr sz="1100" b="0" i="0">
                <a:solidFill>
                  <a:srgbClr val="FFFFFF"/>
                </a:solidFill>
                <a:latin typeface="Calibri"/>
                <a:ea typeface="Calibri"/>
                <a:cs typeface="Calibr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